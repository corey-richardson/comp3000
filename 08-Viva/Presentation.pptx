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8" r:id="rId5"/>
    <p:sldId id="290" r:id="rId6"/>
    <p:sldId id="292" r:id="rId7"/>
    <p:sldId id="291" r:id="rId8"/>
    <p:sldId id="280" r:id="rId9"/>
    <p:sldId id="279" r:id="rId10"/>
    <p:sldId id="281" r:id="rId11"/>
    <p:sldId id="289" r:id="rId12"/>
    <p:sldId id="260" r:id="rId13"/>
    <p:sldId id="282" r:id="rId14"/>
    <p:sldId id="262" r:id="rId15"/>
    <p:sldId id="272" r:id="rId16"/>
    <p:sldId id="277" r:id="rId17"/>
    <p:sldId id="264" r:id="rId18"/>
    <p:sldId id="265" r:id="rId19"/>
    <p:sldId id="269" r:id="rId20"/>
    <p:sldId id="283" r:id="rId21"/>
    <p:sldId id="270" r:id="rId22"/>
    <p:sldId id="273" r:id="rId23"/>
    <p:sldId id="274" r:id="rId24"/>
    <p:sldId id="284" r:id="rId25"/>
    <p:sldId id="275" r:id="rId26"/>
    <p:sldId id="285" r:id="rId27"/>
    <p:sldId id="286" r:id="rId28"/>
    <p:sldId id="287" r:id="rId29"/>
    <p:sldId id="288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6DF1"/>
    <a:srgbClr val="0909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7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156" y="3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689C9-A4F1-9BE4-0FD9-86D852ED9D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452C52-3BD8-40F0-663F-5706BB62A0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6D158-CA3B-7B0D-4697-3C5292D10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C3384-FC72-48CD-89D5-2E00AAF8429A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1CDDE-E8FB-A97A-6F94-C95A1EFC1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C67FC-333D-AC31-6707-070EFAF83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22D99-F94A-44CD-B4F5-1B8365D0F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9690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D1C65-4DFD-764A-8783-6CA8569D2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B4EDD-082D-2AF9-6A09-DE3144223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C4446-860D-0B80-6D7F-B500EAD18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C3384-FC72-48CD-89D5-2E00AAF8429A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2D2D8-E3A9-C101-EA07-323924573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A9295-C53F-6B45-274E-6F2971A7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22D99-F94A-44CD-B4F5-1B8365D0F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7042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B9575-8495-3AAF-D14F-3A2108250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2B4A0-32DF-E445-AFA3-738F178A8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D241C-D6A1-4414-CCFE-FE4698726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C3384-FC72-48CD-89D5-2E00AAF8429A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DFFDC-320F-D8B7-962B-0E196B1BB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B9AD6-1FA9-76FC-E394-0A7A4E950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22D99-F94A-44CD-B4F5-1B8365D0F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2401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E4D25-38AC-DB03-2A66-7A7F21B8F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C3CB1-C308-5D05-6C02-0753B9ACCF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F235FF-E74D-4241-AE07-2C7F6AAA0F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350CB6-9833-357E-7EAE-69F815ACE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C3384-FC72-48CD-89D5-2E00AAF8429A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6990C-3D5D-C502-9696-8975850F7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1DC1E-7256-8D0D-14F2-31616AB82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22D99-F94A-44CD-B4F5-1B8365D0F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5587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BADCB-3CA1-52C7-A668-6AEF66E6F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DBB18-7D47-4D87-8B11-140B6652D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E94ED8-CF05-02A9-C185-450190521E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11637E-44EA-9F9E-6ECA-8D00AC295B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02EED3-E0C9-4C9A-DAB5-C7479BAE92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640B21-D367-058D-1B67-583D17370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C3384-FC72-48CD-89D5-2E00AAF8429A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FF3AA5-7098-6BD7-A92D-AAF44B1A8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16F550-08F0-B08A-68B3-796FFE2D6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22D99-F94A-44CD-B4F5-1B8365D0F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0070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8F33E-15EA-DACB-9E0D-45EE12EB2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E22CA5-0FE1-5701-D35F-9C7FA5C56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C3384-FC72-48CD-89D5-2E00AAF8429A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32F2BF-A2AB-E51F-BE21-92C807C2A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971295-CF34-AB6B-92C0-596991617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22D99-F94A-44CD-B4F5-1B8365D0F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9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AF1015-D747-53B7-87AF-20194DD6F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C3384-FC72-48CD-89D5-2E00AAF8429A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549E5B-BB82-87C5-BF19-12E0A21A5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A21C6-F5D6-FEE7-D220-87FD18FBE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22D99-F94A-44CD-B4F5-1B8365D0F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8333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66CFB-3217-7A15-91B5-F1C4C5C1A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DD3FB-B054-403F-C440-BF788FCCA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8D9D66-6BBB-08A2-D17E-32E9F6BA88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07C732-C25A-6ED8-1FD6-123FC3189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C3384-FC72-48CD-89D5-2E00AAF8429A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80D318-BDDD-196D-D9C2-A5C5FBA46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70CE2-8E9E-CFF1-24BB-1FFDDE9A7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22D99-F94A-44CD-B4F5-1B8365D0F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8021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ABF4D-22E8-D538-434C-1E47F7F00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B2E37F-AD9E-2BD7-E677-480696432B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0D2DFA-2DFB-A0C2-3923-B16A732C3E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E1B31D-4E75-A84B-A509-8301CD8DC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C3384-FC72-48CD-89D5-2E00AAF8429A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DAC7EB-4848-3D5F-37FB-C822611A3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49ED39-E466-DCDB-EDBD-4422C0007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22D99-F94A-44CD-B4F5-1B8365D0F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4734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CEDB5-9B95-2221-0EE6-F2A00007B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70712D-9071-AD29-58C3-8192BA5C5B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D19E8-A142-8EF8-EE36-FFB8792F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C3384-FC72-48CD-89D5-2E00AAF8429A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E37E5-F62E-4FCC-D8A6-22476F18B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7BBFA-FA42-C15F-06BB-F1B112E4D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22D99-F94A-44CD-B4F5-1B8365D0F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902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9EEF8F-0F74-A915-529B-4800614378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817836-35E5-B437-A1A8-5DDDE164B1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6E9FD-07AE-071A-0970-338F33873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C3384-FC72-48CD-89D5-2E00AAF8429A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30FBA-B402-246D-84CB-D531695D8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F391C-20A6-2146-845B-DCB3DFE5A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22D99-F94A-44CD-B4F5-1B8365D0F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4914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2B8B7D-3C90-8394-DC18-738698383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00F01-4D78-10F0-A126-2902B409D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0ACF9-7258-B4E6-E7AD-85544303E3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DC3384-FC72-48CD-89D5-2E00AAF8429A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3C34A-C042-54C2-1F86-1EA09ABCAD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7CD51-B099-6DD7-1CE2-0D11C369C9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122D99-F94A-44CD-B4F5-1B8365D0F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5379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rcheryscorekeeper.co.uk/" TargetMode="Externa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EE1FD0-48AD-5C8C-0A97-A6A1A8D391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414" y="0"/>
            <a:ext cx="9711172" cy="6858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0A36C00-F8A9-701C-8643-80BA04F83D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66725" y="5238750"/>
            <a:ext cx="3238499" cy="323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554561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5FA68DE2-E0F6-EA8A-0776-026E66C7EA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10355" y="720552"/>
            <a:ext cx="2571289" cy="25712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3ACF92-C074-C197-A43B-BCF82B6C1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3104494"/>
            <a:ext cx="9144000" cy="2387600"/>
          </a:xfrm>
        </p:spPr>
        <p:txBody>
          <a:bodyPr anchor="ctr">
            <a:normAutofit fontScale="90000"/>
          </a:bodyPr>
          <a:lstStyle/>
          <a:p>
            <a:r>
              <a:rPr lang="en-GB" b="1" dirty="0">
                <a:solidFill>
                  <a:srgbClr val="356DF1"/>
                </a:solidFill>
                <a:latin typeface="Quicksand" pitchFamily="2" charset="0"/>
              </a:rPr>
              <a:t>Archery Scorekeeper and Club Management Tool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05C94F-F918-126E-21D0-0CC062EE0EF4}"/>
              </a:ext>
            </a:extLst>
          </p:cNvPr>
          <p:cNvSpPr txBox="1"/>
          <p:nvPr/>
        </p:nvSpPr>
        <p:spPr>
          <a:xfrm>
            <a:off x="2838448" y="5214118"/>
            <a:ext cx="6515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Quicksand" pitchFamily="2" charset="0"/>
              </a:rPr>
              <a:t>Corey Richardson</a:t>
            </a:r>
          </a:p>
          <a:p>
            <a:pPr algn="ctr"/>
            <a:r>
              <a:rPr lang="en-GB" dirty="0">
                <a:latin typeface="Quicksand" pitchFamily="2" charset="0"/>
              </a:rPr>
              <a:t>10859643</a:t>
            </a:r>
          </a:p>
          <a:p>
            <a:pPr algn="ctr"/>
            <a:r>
              <a:rPr lang="en-GB" dirty="0">
                <a:latin typeface="Quicksand" pitchFamily="2" charset="0"/>
              </a:rPr>
              <a:t>BSc (Hons) Computer Science (Software Engineering)</a:t>
            </a:r>
          </a:p>
        </p:txBody>
      </p:sp>
    </p:spTree>
    <p:extLst>
      <p:ext uri="{BB962C8B-B14F-4D97-AF65-F5344CB8AC3E}">
        <p14:creationId xmlns:p14="http://schemas.microsoft.com/office/powerpoint/2010/main" val="23197580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1DABD-2660-A2E0-6787-AF90332D8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65" y="716817"/>
            <a:ext cx="7730836" cy="1325563"/>
          </a:xfrm>
        </p:spPr>
        <p:txBody>
          <a:bodyPr/>
          <a:lstStyle/>
          <a:p>
            <a:r>
              <a:rPr lang="en-GB" b="1" dirty="0">
                <a:latin typeface="Quicksand" pitchFamily="2" charset="0"/>
              </a:rPr>
              <a:t>Archery Scorekeeper and Club Management Tool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8A3FE-116D-AB56-B222-EA49AF9C1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64667"/>
            <a:ext cx="10515600" cy="2450954"/>
          </a:xfrm>
        </p:spPr>
        <p:txBody>
          <a:bodyPr/>
          <a:lstStyle/>
          <a:p>
            <a:r>
              <a:rPr lang="en-GB" dirty="0"/>
              <a:t>Archery clubs are volunteer-led. </a:t>
            </a:r>
          </a:p>
          <a:p>
            <a:r>
              <a:rPr lang="en-GB" dirty="0"/>
              <a:t>The </a:t>
            </a:r>
            <a:r>
              <a:rPr lang="en-GB" b="1" dirty="0"/>
              <a:t>Archery Scorekeeper</a:t>
            </a:r>
            <a:r>
              <a:rPr lang="en-GB" dirty="0"/>
              <a:t> system acts as a full-stack digital secretary, assisting volunteers with club management, handling archers’ score submissions, automating the classification handicap workflow, and managing membership records.</a:t>
            </a:r>
          </a:p>
        </p:txBody>
      </p:sp>
    </p:spTree>
    <p:extLst>
      <p:ext uri="{BB962C8B-B14F-4D97-AF65-F5344CB8AC3E}">
        <p14:creationId xmlns:p14="http://schemas.microsoft.com/office/powerpoint/2010/main" val="36006083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7D7AE18-A94A-3C90-0004-C3CF1C994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65" y="716817"/>
            <a:ext cx="7730836" cy="1325563"/>
          </a:xfrm>
        </p:spPr>
        <p:txBody>
          <a:bodyPr/>
          <a:lstStyle/>
          <a:p>
            <a:r>
              <a:rPr lang="en-GB" b="1" dirty="0">
                <a:latin typeface="Quicksand" pitchFamily="2" charset="0"/>
              </a:rPr>
              <a:t>Archery Scorekeeper and Club Management Tool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48483-CEC4-B1D5-FCB4-C106DE234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0065" y="2042380"/>
            <a:ext cx="5157787" cy="823912"/>
          </a:xfrm>
        </p:spPr>
        <p:txBody>
          <a:bodyPr/>
          <a:lstStyle/>
          <a:p>
            <a:r>
              <a:rPr lang="en-GB" dirty="0"/>
              <a:t>Before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E9F010-1446-045C-7F2F-0E5B540512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3241" y="3023234"/>
            <a:ext cx="5157787" cy="3117949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Clubs would use custom-made, bulky Excel Spreadsheets or commercial paid services, such as archr.net or </a:t>
            </a:r>
            <a:r>
              <a:rPr lang="en-GB" dirty="0" err="1"/>
              <a:t>GoldenRecords</a:t>
            </a:r>
            <a:r>
              <a:rPr lang="en-GB" dirty="0"/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7C4E4C-F35C-267F-CDFB-1DA32CFBD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42477" y="2042380"/>
            <a:ext cx="5183188" cy="823912"/>
          </a:xfrm>
        </p:spPr>
        <p:txBody>
          <a:bodyPr/>
          <a:lstStyle/>
          <a:p>
            <a:r>
              <a:rPr lang="en-GB" dirty="0"/>
              <a:t>Now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E77A08-8E87-1665-8369-90DC2A52F1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45653" y="3023234"/>
            <a:ext cx="5183188" cy="2781821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All in one, open-source, free to use.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4049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BF714-BCC4-5985-CD42-2AD4A03EF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72F64C1-B7EE-10C7-B8A7-9B1B2BF1B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65" y="716817"/>
            <a:ext cx="7730836" cy="1325563"/>
          </a:xfrm>
        </p:spPr>
        <p:txBody>
          <a:bodyPr/>
          <a:lstStyle/>
          <a:p>
            <a:r>
              <a:rPr lang="en-GB" b="1" dirty="0">
                <a:latin typeface="Quicksand" pitchFamily="2" charset="0"/>
              </a:rPr>
              <a:t>Archery Scorekeeper and Club Management Tool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84669-31E2-8FC1-86AA-25A7D1CF4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0065" y="2042380"/>
            <a:ext cx="5157787" cy="823912"/>
          </a:xfrm>
        </p:spPr>
        <p:txBody>
          <a:bodyPr/>
          <a:lstStyle/>
          <a:p>
            <a:r>
              <a:rPr lang="en-GB" dirty="0"/>
              <a:t>Before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0DF803-C1A1-5B30-D9F9-73363532F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3241" y="3023235"/>
            <a:ext cx="5157787" cy="3301366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Club Records Officers would spend </a:t>
            </a:r>
            <a:r>
              <a:rPr lang="en-GB" b="1" dirty="0"/>
              <a:t>hours</a:t>
            </a:r>
            <a:r>
              <a:rPr lang="en-GB" dirty="0"/>
              <a:t> staring at handicap tables and cross-referencing values against classification tables. 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4F7862-CBD3-B406-BD2D-367D24F6ED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42477" y="2042380"/>
            <a:ext cx="5183188" cy="823912"/>
          </a:xfrm>
        </p:spPr>
        <p:txBody>
          <a:bodyPr/>
          <a:lstStyle/>
          <a:p>
            <a:r>
              <a:rPr lang="en-GB" dirty="0"/>
              <a:t>Now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29AB5B-467D-321C-A4E9-01177663AD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45653" y="3023235"/>
            <a:ext cx="5183188" cy="3301366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This system </a:t>
            </a:r>
            <a:r>
              <a:rPr lang="en-GB" b="1" dirty="0"/>
              <a:t>automates the process</a:t>
            </a:r>
            <a:r>
              <a:rPr lang="en-GB" dirty="0"/>
              <a:t> by passing the user-submitted scores directly to a </a:t>
            </a:r>
            <a:r>
              <a:rPr lang="en-GB" b="1" dirty="0"/>
              <a:t>Python Flask microservice</a:t>
            </a:r>
            <a:r>
              <a:rPr lang="en-GB" dirty="0"/>
              <a:t> to perform domain-specific</a:t>
            </a:r>
            <a:r>
              <a:rPr lang="en-GB" b="1" dirty="0"/>
              <a:t> </a:t>
            </a:r>
            <a:r>
              <a:rPr lang="en-GB" dirty="0"/>
              <a:t>calculations and return the results </a:t>
            </a:r>
            <a:r>
              <a:rPr lang="en-GB" b="1" dirty="0"/>
              <a:t>instantly</a:t>
            </a:r>
            <a:r>
              <a:rPr lang="en-GB" dirty="0"/>
              <a:t> to the archer.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8310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7B0B2-F135-ED2C-C0A2-72820009B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57E74AA-2DF8-0700-7C30-75A18F4E4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65" y="716817"/>
            <a:ext cx="7730836" cy="1325563"/>
          </a:xfrm>
        </p:spPr>
        <p:txBody>
          <a:bodyPr/>
          <a:lstStyle/>
          <a:p>
            <a:r>
              <a:rPr lang="en-GB" b="1" dirty="0">
                <a:latin typeface="Quicksand" pitchFamily="2" charset="0"/>
              </a:rPr>
              <a:t>Archery Scorekeeper and Club Management Tool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1B7619-1D55-B2A2-6B4A-62F114B74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0065" y="2042380"/>
            <a:ext cx="5157787" cy="823912"/>
          </a:xfrm>
        </p:spPr>
        <p:txBody>
          <a:bodyPr/>
          <a:lstStyle/>
          <a:p>
            <a:r>
              <a:rPr lang="en-GB" dirty="0"/>
              <a:t>Before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5DD4ED-C8B1-676B-3895-76B4A8E4A2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3241" y="3023234"/>
            <a:ext cx="5157787" cy="3391421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Club Secretaries would have to manually track and store each members contact information, demographics, etc.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C836C1-4ACF-8601-2C8F-664BDBAA2A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42477" y="2042380"/>
            <a:ext cx="5183188" cy="823912"/>
          </a:xfrm>
        </p:spPr>
        <p:txBody>
          <a:bodyPr/>
          <a:lstStyle/>
          <a:p>
            <a:r>
              <a:rPr lang="en-GB" dirty="0"/>
              <a:t>Now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142F43-B64D-5B5F-68B8-2B539D7824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45653" y="3023234"/>
            <a:ext cx="5183188" cy="3391421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All information is stored in one location, providing the Club Secretary with an easy source of all relevant information related to their members.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7171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98719-9CD9-8A1B-81BC-E7ABE08CE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CF09FBC-C995-78BB-F3E0-445590F8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65" y="716817"/>
            <a:ext cx="7730836" cy="1325563"/>
          </a:xfrm>
        </p:spPr>
        <p:txBody>
          <a:bodyPr/>
          <a:lstStyle/>
          <a:p>
            <a:r>
              <a:rPr lang="en-GB" b="1" dirty="0">
                <a:latin typeface="Quicksand" pitchFamily="2" charset="0"/>
              </a:rPr>
              <a:t>Archery Scorekeeper and Club Management Tool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BE12B-5F42-9312-CC1D-147AC9CD2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0065" y="2042380"/>
            <a:ext cx="5157787" cy="823912"/>
          </a:xfrm>
        </p:spPr>
        <p:txBody>
          <a:bodyPr/>
          <a:lstStyle/>
          <a:p>
            <a:r>
              <a:rPr lang="en-GB" dirty="0"/>
              <a:t>Before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DB1E9D-E792-28A9-5BC4-FFE92F405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3241" y="3023234"/>
            <a:ext cx="5157787" cy="3117949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Club Captains and Tournament Officers would have to manually get each members Emergency Contact information.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446302-7C31-DA73-93B6-4273FA15C9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42477" y="2042380"/>
            <a:ext cx="5183188" cy="823912"/>
          </a:xfrm>
        </p:spPr>
        <p:txBody>
          <a:bodyPr/>
          <a:lstStyle/>
          <a:p>
            <a:r>
              <a:rPr lang="en-GB" dirty="0"/>
              <a:t>Now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370E0B-4C09-E1B7-94B6-9EA8E8F7B0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45653" y="3023234"/>
            <a:ext cx="5183188" cy="3117949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Users can upload their Emergency Contact information to their profile, putting all safety information in one place.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3144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5C12C0-9954-9EE0-BBE3-8882CE887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560" y="0"/>
            <a:ext cx="97628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528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5CCD27-14F0-7F99-BF3A-B895CC517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461" y="0"/>
            <a:ext cx="97690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186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F48A46-984B-FEF1-9D1B-E8CCAF49E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646" y="0"/>
            <a:ext cx="97387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09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0ED3C-E811-8E88-5D28-91DB3BA1E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Quicksand" pitchFamily="2" charset="0"/>
              </a:rPr>
              <a:t>Live Demonstration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1E42B6-D4B7-2285-42CD-2A17AC439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https://www.archeryscorekeeper.co</a:t>
            </a:r>
            <a:r>
              <a:rPr lang="en-GB">
                <a:hlinkClick r:id="rId2"/>
              </a:rPr>
              <a:t>.uk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8056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DFACE67-4AD2-2C02-179C-95C02F88DD0A}"/>
              </a:ext>
            </a:extLst>
          </p:cNvPr>
          <p:cNvSpPr/>
          <p:nvPr/>
        </p:nvSpPr>
        <p:spPr>
          <a:xfrm>
            <a:off x="3050400" y="0"/>
            <a:ext cx="3045600" cy="6858000"/>
          </a:xfrm>
          <a:prstGeom prst="rect">
            <a:avLst/>
          </a:prstGeom>
          <a:solidFill>
            <a:srgbClr val="356D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76E6F7-1243-EAB6-9715-350ED1BA7BA5}"/>
              </a:ext>
            </a:extLst>
          </p:cNvPr>
          <p:cNvSpPr/>
          <p:nvPr/>
        </p:nvSpPr>
        <p:spPr>
          <a:xfrm>
            <a:off x="9141600" y="0"/>
            <a:ext cx="3045600" cy="6858000"/>
          </a:xfrm>
          <a:prstGeom prst="rect">
            <a:avLst/>
          </a:prstGeom>
          <a:solidFill>
            <a:srgbClr val="356D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E70D03-D315-8CAD-B3C4-64268CA2F8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25" y="1207332"/>
            <a:ext cx="2666948" cy="23335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0631F9-E4DB-AA77-D042-281CE8D2B7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842" y="1494011"/>
            <a:ext cx="1760219" cy="17602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9884AE-912E-2494-ACEA-1D3449FA2D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634" y="2199354"/>
            <a:ext cx="2824332" cy="26831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C2A368-C2FE-7ABF-231B-15521DF8C5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9885" y="2698817"/>
            <a:ext cx="2387316" cy="14603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A53563-26C8-85E0-CA7D-C07DDA822A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531" y="3730048"/>
            <a:ext cx="2304842" cy="23048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ECF4F0-E644-1C81-B846-3840279770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25" y="4454876"/>
            <a:ext cx="2666948" cy="855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92123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71941-2FC0-F8B8-D2D0-CEAAA9FAA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9F5E581-FAB7-3E5C-51E2-C345925AE5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7" y="587964"/>
            <a:ext cx="2144077" cy="6875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6E4E94-15FD-5FDF-CC31-B3CCA11868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48" y="126714"/>
            <a:ext cx="2059868" cy="18023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9A4C35-844B-49A1-4D93-B107063C0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7FE36-7CBE-D09B-7B25-076C9C29DA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77291"/>
            <a:ext cx="5181600" cy="3670545"/>
          </a:xfrm>
        </p:spPr>
        <p:txBody>
          <a:bodyPr>
            <a:normAutofit lnSpcReduction="10000"/>
          </a:bodyPr>
          <a:lstStyle/>
          <a:p>
            <a:r>
              <a:rPr lang="en-GB" sz="2400" dirty="0"/>
              <a:t>Hosted on AWS RDS, accessed via Prisma ORM for type-safety.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E09BC4-345E-3BC7-87E5-F03EF2DA4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77291"/>
            <a:ext cx="5181600" cy="4579348"/>
          </a:xfrm>
        </p:spPr>
        <p:txBody>
          <a:bodyPr>
            <a:normAutofit lnSpcReduction="10000"/>
          </a:bodyPr>
          <a:lstStyle/>
          <a:p>
            <a:r>
              <a:rPr lang="en-GB" sz="2400" dirty="0"/>
              <a:t>Prisma ORM generates a Prisma Client directly from the. </a:t>
            </a:r>
          </a:p>
          <a:p>
            <a:r>
              <a:rPr lang="en-GB" sz="2400" dirty="0"/>
              <a:t>The Prisma engine parses the models defined in the schema and creates a TypeScript client which can be imported into the backend controllers. </a:t>
            </a:r>
          </a:p>
          <a:p>
            <a:r>
              <a:rPr lang="en-GB" sz="2400" dirty="0"/>
              <a:t>Compile-time validation errors will be thrown immediately if there is an attempt to query a model or field that doesn’t exist, or if there is an attempt to save a value as the wrong data type, removing the possibility of a range of runtime errors</a:t>
            </a:r>
          </a:p>
        </p:txBody>
      </p:sp>
    </p:spTree>
    <p:extLst>
      <p:ext uri="{BB962C8B-B14F-4D97-AF65-F5344CB8AC3E}">
        <p14:creationId xmlns:p14="http://schemas.microsoft.com/office/powerpoint/2010/main" val="19607006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32FD6-B06E-95E5-42D5-4BA879C3E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8A69D85-07E9-217B-7D91-15CB51733AF0}"/>
              </a:ext>
            </a:extLst>
          </p:cNvPr>
          <p:cNvSpPr/>
          <p:nvPr/>
        </p:nvSpPr>
        <p:spPr>
          <a:xfrm>
            <a:off x="3050400" y="0"/>
            <a:ext cx="3045600" cy="6858000"/>
          </a:xfrm>
          <a:prstGeom prst="rect">
            <a:avLst/>
          </a:prstGeom>
          <a:solidFill>
            <a:srgbClr val="356D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2D6772-E541-590E-2A60-0035E0094B4B}"/>
              </a:ext>
            </a:extLst>
          </p:cNvPr>
          <p:cNvSpPr/>
          <p:nvPr/>
        </p:nvSpPr>
        <p:spPr>
          <a:xfrm>
            <a:off x="9141600" y="0"/>
            <a:ext cx="3045600" cy="6858000"/>
          </a:xfrm>
          <a:prstGeom prst="rect">
            <a:avLst/>
          </a:prstGeom>
          <a:solidFill>
            <a:srgbClr val="356D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3E8ED0-10B7-94B8-CBDD-E77E831FC1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25" y="1207332"/>
            <a:ext cx="2666948" cy="23335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010E85-8533-1710-750A-51EB6306CF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842" y="1494011"/>
            <a:ext cx="1760219" cy="17602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CEF73D-C2C4-13F6-7BCD-291976FFBC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634" y="2199354"/>
            <a:ext cx="2824332" cy="26831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FAAA00-92B5-3B63-ED27-87D29ADCAE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9885" y="2698817"/>
            <a:ext cx="2387316" cy="14603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F49A56-270A-1626-5440-4888A83981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531" y="3730048"/>
            <a:ext cx="2304842" cy="23048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B74FBA-4B06-B64D-F4DF-7FE59470BD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25" y="4454876"/>
            <a:ext cx="2666948" cy="855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2495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BA24D-4D78-6088-7D2E-A99C4ABD3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54C77-F346-24A7-1515-5D39A6D251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41061"/>
            <a:ext cx="5181600" cy="3406775"/>
          </a:xfrm>
        </p:spPr>
        <p:txBody>
          <a:bodyPr>
            <a:normAutofit/>
          </a:bodyPr>
          <a:lstStyle/>
          <a:p>
            <a:r>
              <a:rPr lang="en-GB" sz="2400" dirty="0"/>
              <a:t>The Express.js backend acts as a hub for the entire system.</a:t>
            </a:r>
          </a:p>
          <a:p>
            <a:r>
              <a:rPr lang="en-GB" sz="2400" dirty="0"/>
              <a:t>Developed using TypeScript to leverage the schema generated Prisma client to enforce compile-time type verification.</a:t>
            </a:r>
          </a:p>
          <a:p>
            <a:r>
              <a:rPr lang="en-GB" sz="2400" dirty="0"/>
              <a:t>Handles React-Context managed JWT Authentication handshakes via the </a:t>
            </a:r>
            <a:r>
              <a:rPr lang="en-GB" sz="2400" b="1" dirty="0"/>
              <a:t>requireAuth</a:t>
            </a:r>
            <a:r>
              <a:rPr lang="en-GB" sz="2400" dirty="0"/>
              <a:t> middleware.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744E39-5BD4-C3DA-3722-72775C6617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2141061"/>
            <a:ext cx="5181600" cy="4218782"/>
          </a:xfrm>
        </p:spPr>
        <p:txBody>
          <a:bodyPr>
            <a:normAutofit/>
          </a:bodyPr>
          <a:lstStyle/>
          <a:p>
            <a:r>
              <a:rPr lang="en-GB" sz="2400" dirty="0"/>
              <a:t>Microservice for performing domain specific archery classification (</a:t>
            </a:r>
            <a:r>
              <a:rPr lang="en-GB" sz="2400" b="1" dirty="0"/>
              <a:t>POST /calculate</a:t>
            </a:r>
            <a:r>
              <a:rPr lang="en-GB" sz="2400" dirty="0"/>
              <a:t>) and handicap calculations and lookups.</a:t>
            </a:r>
          </a:p>
          <a:p>
            <a:r>
              <a:rPr lang="en-GB" sz="2400" dirty="0"/>
              <a:t>Uses the </a:t>
            </a:r>
            <a:r>
              <a:rPr lang="en-GB" sz="2400" b="1" dirty="0"/>
              <a:t>archeryutils</a:t>
            </a:r>
            <a:r>
              <a:rPr lang="en-GB" sz="2400" dirty="0"/>
              <a:t> Python library, which is maintained by the author of the official Archery GB scheme.</a:t>
            </a:r>
          </a:p>
          <a:p>
            <a:r>
              <a:rPr lang="en-GB" sz="2400" dirty="0"/>
              <a:t>Exposes a </a:t>
            </a:r>
            <a:r>
              <a:rPr lang="en-GB" sz="2400" b="1" dirty="0"/>
              <a:t>GET /rounds</a:t>
            </a:r>
            <a:r>
              <a:rPr lang="en-GB" sz="2400" dirty="0"/>
              <a:t> path, returning a datalist of valid Archery GB and World Archery rounds.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51A4BA-0413-E109-09D1-BA8AEAFA5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365126"/>
            <a:ext cx="1325562" cy="13255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8550E7-8FCF-799E-45E0-3DB2B7FA3C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8" y="-113336"/>
            <a:ext cx="2282484" cy="228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7809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9FF20-1B63-4499-8C20-3CBB17DAE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F38AE-DD09-4477-AB57-1E1392D60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E7AEF-0C68-3D9A-D7B1-E0A73BFD55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41061"/>
            <a:ext cx="5181600" cy="3406775"/>
          </a:xfrm>
        </p:spPr>
        <p:txBody>
          <a:bodyPr>
            <a:normAutofit/>
          </a:bodyPr>
          <a:lstStyle/>
          <a:p>
            <a:r>
              <a:rPr lang="en-GB" sz="2400" dirty="0"/>
              <a:t>The Express.js backend acts as a hub for the entire system.</a:t>
            </a:r>
          </a:p>
          <a:p>
            <a:r>
              <a:rPr lang="en-GB" sz="2400" dirty="0"/>
              <a:t>Developed using TypeScript to leverage the schema generated Prisma client to enforce compile-time type verification.</a:t>
            </a:r>
          </a:p>
          <a:p>
            <a:r>
              <a:rPr lang="en-GB" sz="2400" dirty="0"/>
              <a:t>Handles React-Context managed JWT Authentication handshakes via the </a:t>
            </a:r>
            <a:r>
              <a:rPr lang="en-GB" sz="2400" b="1" dirty="0"/>
              <a:t>requireAuth</a:t>
            </a:r>
            <a:r>
              <a:rPr lang="en-GB" sz="2400" dirty="0"/>
              <a:t> middleware.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057D72-002E-D65E-55BF-225DD1D54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2141061"/>
            <a:ext cx="5181600" cy="4218782"/>
          </a:xfrm>
        </p:spPr>
        <p:txBody>
          <a:bodyPr>
            <a:normAutofit/>
          </a:bodyPr>
          <a:lstStyle/>
          <a:p>
            <a:r>
              <a:rPr lang="en-GB" sz="2400" dirty="0"/>
              <a:t>Replaces the default single threaded </a:t>
            </a:r>
            <a:r>
              <a:rPr lang="en-GB" sz="2400" b="1" dirty="0"/>
              <a:t>Flask</a:t>
            </a:r>
            <a:r>
              <a:rPr lang="en-GB" sz="2400" dirty="0"/>
              <a:t> development server (which would handle requests sequentially) with a </a:t>
            </a:r>
            <a:r>
              <a:rPr lang="en-GB" sz="2400" b="1" dirty="0"/>
              <a:t>Gunicorn</a:t>
            </a:r>
            <a:r>
              <a:rPr lang="en-GB" sz="2400" dirty="0"/>
              <a:t> WSGI server using a pre-fork worker model to provide concurrency, meaning the server can handle multiple simultaneous requests in production.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202FD1-E855-39F8-AC3F-26B09150B4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365126"/>
            <a:ext cx="1325562" cy="13255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BF6EF0-3F6E-3197-1E38-7B35D5D830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8" y="-113336"/>
            <a:ext cx="2282484" cy="228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9279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50090-FC2B-06B6-087F-FCD8AC531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D380FD1-AF1B-DB97-4E19-CB321DBD2AFA}"/>
              </a:ext>
            </a:extLst>
          </p:cNvPr>
          <p:cNvSpPr/>
          <p:nvPr/>
        </p:nvSpPr>
        <p:spPr>
          <a:xfrm>
            <a:off x="3050400" y="0"/>
            <a:ext cx="3045600" cy="6858000"/>
          </a:xfrm>
          <a:prstGeom prst="rect">
            <a:avLst/>
          </a:prstGeom>
          <a:solidFill>
            <a:srgbClr val="356D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61A894-33F7-D524-4FAA-D4FF805B0A83}"/>
              </a:ext>
            </a:extLst>
          </p:cNvPr>
          <p:cNvSpPr/>
          <p:nvPr/>
        </p:nvSpPr>
        <p:spPr>
          <a:xfrm>
            <a:off x="9141600" y="0"/>
            <a:ext cx="3045600" cy="6858000"/>
          </a:xfrm>
          <a:prstGeom prst="rect">
            <a:avLst/>
          </a:prstGeom>
          <a:solidFill>
            <a:srgbClr val="356D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F8A0C9-4ECD-1BC2-2A96-CDFFBE1737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25" y="1207332"/>
            <a:ext cx="2666948" cy="23335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97C08E-F7DA-924B-A404-C8ED66BDCD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842" y="1494011"/>
            <a:ext cx="1760219" cy="17602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FDF8AD-2EB5-1D37-9F4E-4A4B0CA29F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634" y="2199354"/>
            <a:ext cx="2824332" cy="26831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4B4882-04EF-64F7-E3F1-045A9E02A2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9885" y="2698817"/>
            <a:ext cx="2387316" cy="14603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FEDB1A-FF49-65CE-0475-9B5C4B8BF3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531" y="3730048"/>
            <a:ext cx="2304842" cy="23048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7BF801-F2AB-2193-4FB8-B14BB343B0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25" y="4454876"/>
            <a:ext cx="2666948" cy="855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7566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F44CD-2B76-7A43-28AA-C2433F1D5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799D82E-EFB4-B0A5-7793-92062B470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925" y="2087442"/>
            <a:ext cx="2824332" cy="26831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DB1A820-A2F3-5E19-B532-40737080E846}"/>
              </a:ext>
            </a:extLst>
          </p:cNvPr>
          <p:cNvSpPr txBox="1"/>
          <p:nvPr/>
        </p:nvSpPr>
        <p:spPr>
          <a:xfrm>
            <a:off x="4468091" y="3013500"/>
            <a:ext cx="6781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JavaScript SPA using React Context API, custom hooks and real-time UI validation.</a:t>
            </a:r>
          </a:p>
        </p:txBody>
      </p:sp>
    </p:spTree>
    <p:extLst>
      <p:ext uri="{BB962C8B-B14F-4D97-AF65-F5344CB8AC3E}">
        <p14:creationId xmlns:p14="http://schemas.microsoft.com/office/powerpoint/2010/main" val="20111894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18B47-234E-53E3-F3CA-55FA71106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2BAF1EA-5117-FA24-EEBE-6544C9CC2966}"/>
              </a:ext>
            </a:extLst>
          </p:cNvPr>
          <p:cNvSpPr/>
          <p:nvPr/>
        </p:nvSpPr>
        <p:spPr>
          <a:xfrm>
            <a:off x="3050400" y="0"/>
            <a:ext cx="3045600" cy="6858000"/>
          </a:xfrm>
          <a:prstGeom prst="rect">
            <a:avLst/>
          </a:prstGeom>
          <a:solidFill>
            <a:srgbClr val="356D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676100-65CA-6CDE-5257-5169EE8CD46D}"/>
              </a:ext>
            </a:extLst>
          </p:cNvPr>
          <p:cNvSpPr/>
          <p:nvPr/>
        </p:nvSpPr>
        <p:spPr>
          <a:xfrm>
            <a:off x="9141600" y="0"/>
            <a:ext cx="3045600" cy="6858000"/>
          </a:xfrm>
          <a:prstGeom prst="rect">
            <a:avLst/>
          </a:prstGeom>
          <a:solidFill>
            <a:srgbClr val="356D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4416B5-71BB-CCC9-0A3C-36C4FDF51C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25" y="1207332"/>
            <a:ext cx="2666948" cy="23335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685679-7026-7912-8FA8-DDEA2EB301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842" y="1494011"/>
            <a:ext cx="1760219" cy="17602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6B17A9-67DE-3D69-9A78-A163EAE54B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634" y="2199354"/>
            <a:ext cx="2824332" cy="26831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99CC56-89C1-8274-B6B8-80928E5AE6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9885" y="2698817"/>
            <a:ext cx="2387316" cy="14603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377146-8338-F943-5A40-BCD25EED39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531" y="3730048"/>
            <a:ext cx="2304842" cy="23048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EBEAB2-53CA-9772-7D16-B3C0EE1C87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25" y="4454876"/>
            <a:ext cx="2666948" cy="855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8134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0A1F22-6B74-CF10-3E9E-1CEDD25353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679" y="-2"/>
            <a:ext cx="3728414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CBEDCC-99FE-10A7-A643-D2AE34837A7B}"/>
              </a:ext>
            </a:extLst>
          </p:cNvPr>
          <p:cNvSpPr txBox="1"/>
          <p:nvPr/>
        </p:nvSpPr>
        <p:spPr>
          <a:xfrm>
            <a:off x="4923094" y="1905504"/>
            <a:ext cx="689062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A modified </a:t>
            </a:r>
            <a:r>
              <a:rPr lang="en-GB" sz="2400" b="1" dirty="0"/>
              <a:t>Model-View-Controller</a:t>
            </a:r>
            <a:r>
              <a:rPr lang="en-GB" sz="2400" dirty="0"/>
              <a:t> pattern maintains separation of concerns.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The </a:t>
            </a:r>
            <a:r>
              <a:rPr lang="en-GB" sz="2400" b="1" dirty="0"/>
              <a:t>requireAuth</a:t>
            </a:r>
            <a:r>
              <a:rPr lang="en-GB" sz="2400" dirty="0"/>
              <a:t> middleware validates </a:t>
            </a:r>
            <a:r>
              <a:rPr lang="en-GB" sz="2400" b="1" dirty="0"/>
              <a:t>JWT</a:t>
            </a:r>
            <a:r>
              <a:rPr lang="en-GB" sz="2400" dirty="0"/>
              <a:t> tokens before a controller processes a request.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Controller methods handling domain-specific calculations and lookups are delegated to the </a:t>
            </a:r>
            <a:r>
              <a:rPr lang="en-GB" sz="2400" b="1" dirty="0"/>
              <a:t>Flask microservice</a:t>
            </a:r>
            <a:r>
              <a:rPr lang="en-GB" sz="2400" dirty="0"/>
              <a:t> over an </a:t>
            </a:r>
            <a:r>
              <a:rPr lang="en-GB" sz="2400" b="1" dirty="0"/>
              <a:t>internal bridge</a:t>
            </a:r>
            <a:r>
              <a:rPr lang="en-GB" sz="2400" dirty="0"/>
              <a:t> network.</a:t>
            </a:r>
          </a:p>
        </p:txBody>
      </p:sp>
    </p:spTree>
    <p:extLst>
      <p:ext uri="{BB962C8B-B14F-4D97-AF65-F5344CB8AC3E}">
        <p14:creationId xmlns:p14="http://schemas.microsoft.com/office/powerpoint/2010/main" val="13191090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E9EFA-77CB-9997-3419-CDA7196BA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E1D15B7-726E-5C9C-DBB8-ED63BC8FD0E1}"/>
              </a:ext>
            </a:extLst>
          </p:cNvPr>
          <p:cNvSpPr/>
          <p:nvPr/>
        </p:nvSpPr>
        <p:spPr>
          <a:xfrm>
            <a:off x="6096000" y="0"/>
            <a:ext cx="6091200" cy="6858000"/>
          </a:xfrm>
          <a:prstGeom prst="rect">
            <a:avLst/>
          </a:prstGeom>
          <a:solidFill>
            <a:srgbClr val="356D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924201-33AB-E19A-C654-34B5A8CAAB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75" y="2844699"/>
            <a:ext cx="4538250" cy="11686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952D5D3-7588-E24C-EF88-2BD99F049A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345" y="2493618"/>
            <a:ext cx="2128510" cy="187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1232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6E9E7-4BFC-7619-40D4-2747FD0F6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AEE7F3-EB77-112F-0008-01FD9460C4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269" y="0"/>
            <a:ext cx="10193731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A06CEF2-3335-DC78-A18D-640D1732A9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177" y="3125688"/>
            <a:ext cx="2355820" cy="60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7486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5D41F-16C4-3794-096A-D93404A25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C56D85-8A9B-2EAA-7A8B-107992956338}"/>
              </a:ext>
            </a:extLst>
          </p:cNvPr>
          <p:cNvSpPr/>
          <p:nvPr/>
        </p:nvSpPr>
        <p:spPr>
          <a:xfrm>
            <a:off x="6096000" y="0"/>
            <a:ext cx="6091200" cy="6858000"/>
          </a:xfrm>
          <a:prstGeom prst="rect">
            <a:avLst/>
          </a:prstGeom>
          <a:solidFill>
            <a:srgbClr val="356D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5C9558-25AC-C502-DDA8-64FAC54ECB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75" y="2844699"/>
            <a:ext cx="4538250" cy="11686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A176C2-C116-E7BE-837D-8F6383457C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345" y="2493618"/>
            <a:ext cx="2128510" cy="187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182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607AF-0424-7BAD-53F2-0246FE1BE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1AF0403-E5DE-A19C-2A88-FFA34A7483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796" y="2758353"/>
            <a:ext cx="1526089" cy="13412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9ED766-7DB2-C439-57A7-627283A2C8DF}"/>
              </a:ext>
            </a:extLst>
          </p:cNvPr>
          <p:cNvSpPr txBox="1"/>
          <p:nvPr/>
        </p:nvSpPr>
        <p:spPr>
          <a:xfrm>
            <a:off x="3276601" y="1536174"/>
            <a:ext cx="854404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The system is deployed on an </a:t>
            </a:r>
            <a:r>
              <a:rPr lang="en-GB" sz="2400" b="1" dirty="0"/>
              <a:t>AWS Virtual Private Cloud</a:t>
            </a:r>
            <a:r>
              <a:rPr lang="en-GB" sz="2400" dirty="0"/>
              <a:t>, which shields the database and Flask microservice from the public internet.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CloudFront + Route 53: </a:t>
            </a:r>
            <a:r>
              <a:rPr lang="en-GB" sz="2400" dirty="0"/>
              <a:t>Single entry point serving static S3 frontend and routing </a:t>
            </a:r>
            <a:r>
              <a:rPr lang="en-GB" sz="2400" b="1" dirty="0"/>
              <a:t>/api/*</a:t>
            </a:r>
            <a:r>
              <a:rPr lang="en-GB" sz="2400" dirty="0"/>
              <a:t> requests to the ALB.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Application Load Balancer: </a:t>
            </a:r>
            <a:r>
              <a:rPr lang="en-GB" sz="2400" dirty="0"/>
              <a:t>Distributes traffic across three AZs.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ECS Fargate Cluster: </a:t>
            </a:r>
            <a:r>
              <a:rPr lang="en-GB" sz="2400" dirty="0"/>
              <a:t>Serverless containers for backend and utils services, connected to the RDS PostgreSQL instance.</a:t>
            </a:r>
          </a:p>
        </p:txBody>
      </p:sp>
    </p:spTree>
    <p:extLst>
      <p:ext uri="{BB962C8B-B14F-4D97-AF65-F5344CB8AC3E}">
        <p14:creationId xmlns:p14="http://schemas.microsoft.com/office/powerpoint/2010/main" val="1617538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03E57-2E9E-466D-A728-21C20D4E7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2648AC8-9C41-B9A2-DE93-39F0BFCCE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3213" y="2758355"/>
            <a:ext cx="1526089" cy="13412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BE5210-ABD8-D33E-746D-0AF583D9DA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742" y="0"/>
            <a:ext cx="62621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9836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6B132-C472-2918-96BE-20F4E2DF9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61596"/>
          </a:xfrm>
        </p:spPr>
        <p:txBody>
          <a:bodyPr/>
          <a:lstStyle/>
          <a:p>
            <a:r>
              <a:rPr lang="en-GB" dirty="0"/>
              <a:t>CI/CD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62584-1FB0-CDB5-5CD0-01652B57F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6722"/>
            <a:ext cx="10515600" cy="4650241"/>
          </a:xfrm>
        </p:spPr>
        <p:txBody>
          <a:bodyPr>
            <a:normAutofit/>
          </a:bodyPr>
          <a:lstStyle/>
          <a:p>
            <a:r>
              <a:rPr lang="en-GB" sz="2400" b="1" dirty="0"/>
              <a:t>Shift-left approach</a:t>
            </a:r>
            <a:r>
              <a:rPr lang="en-GB" sz="2400" dirty="0"/>
              <a:t>; fail as early as possible.</a:t>
            </a:r>
          </a:p>
          <a:p>
            <a:r>
              <a:rPr lang="en-GB" sz="2400" dirty="0"/>
              <a:t>A GitHub Actions pipeline enforces quality gates at each stage, blocking poor quality code from reaching the production environment.</a:t>
            </a:r>
          </a:p>
          <a:p>
            <a:r>
              <a:rPr lang="en-GB" sz="2400" dirty="0"/>
              <a:t>Path filtering with </a:t>
            </a:r>
            <a:r>
              <a:rPr lang="en-GB" sz="2400" b="1" dirty="0"/>
              <a:t>dorny/paths-filter</a:t>
            </a:r>
            <a:r>
              <a:rPr lang="en-GB" sz="2400" dirty="0"/>
              <a:t> ensures that only the changed services are redeployed.</a:t>
            </a:r>
          </a:p>
          <a:p>
            <a:r>
              <a:rPr lang="en-GB" sz="2400" dirty="0"/>
              <a:t>Cross-workflow communication between CI and CD workflow is used to pass commit metadata between workflows to handle this filtering.</a:t>
            </a:r>
          </a:p>
          <a:p>
            <a:r>
              <a:rPr lang="en-GB" sz="2400" dirty="0"/>
              <a:t>ECS service stability checks prevent failing deployments from being marked as passing.</a:t>
            </a:r>
          </a:p>
        </p:txBody>
      </p:sp>
    </p:spTree>
    <p:extLst>
      <p:ext uri="{BB962C8B-B14F-4D97-AF65-F5344CB8AC3E}">
        <p14:creationId xmlns:p14="http://schemas.microsoft.com/office/powerpoint/2010/main" val="28874314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93C6E4-05E2-1727-7F5D-D5A1B3FC3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865" y="0"/>
            <a:ext cx="89102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5706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F92788-8D0E-3B88-90AF-EE035DB05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101" y="0"/>
            <a:ext cx="103837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0066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6D2421-D4EA-EB90-2067-B8AAAF64DB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0902" y="0"/>
            <a:ext cx="44501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847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744</Words>
  <Application>Microsoft Office PowerPoint</Application>
  <PresentationFormat>Widescreen</PresentationFormat>
  <Paragraphs>58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Quicksand</vt:lpstr>
      <vt:lpstr>Office Theme</vt:lpstr>
      <vt:lpstr>PowerPoint Presentation</vt:lpstr>
      <vt:lpstr>Archery Scorekeeper and Club Management Tool</vt:lpstr>
      <vt:lpstr>Archery Scorekeeper and Club Management Tool</vt:lpstr>
      <vt:lpstr>Archery Scorekeeper and Club Management Tool</vt:lpstr>
      <vt:lpstr>Archery Scorekeeper and Club Management Tool</vt:lpstr>
      <vt:lpstr>Archery Scorekeeper and Club Management Tool</vt:lpstr>
      <vt:lpstr>Archery Scorekeeper and Club Management Tool</vt:lpstr>
      <vt:lpstr>PowerPoint Presentation</vt:lpstr>
      <vt:lpstr>PowerPoint Presentation</vt:lpstr>
      <vt:lpstr>PowerPoint Presentation</vt:lpstr>
      <vt:lpstr>Live Demonstration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CI/CD Workflow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(s) Corey Richardson</dc:creator>
  <cp:lastModifiedBy>(s) Corey Richardson</cp:lastModifiedBy>
  <cp:revision>6</cp:revision>
  <dcterms:created xsi:type="dcterms:W3CDTF">2026-05-20T10:54:01Z</dcterms:created>
  <dcterms:modified xsi:type="dcterms:W3CDTF">2026-05-20T16:34:17Z</dcterms:modified>
</cp:coreProperties>
</file>