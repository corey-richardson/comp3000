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7" r:id="rId5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104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58" autoAdjust="0"/>
  </p:normalViewPr>
  <p:slideViewPr>
    <p:cSldViewPr snapToGrid="0">
      <p:cViewPr varScale="1">
        <p:scale>
          <a:sx n="50" d="100"/>
          <a:sy n="50" d="100"/>
        </p:scale>
        <p:origin x="1524" y="156"/>
      </p:cViewPr>
      <p:guideLst>
        <p:guide orient="horz" pos="6735"/>
        <p:guide pos="104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400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2206F-7194-4E11-805A-5295AF5385CE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DB113-0FB7-4D54-B6D0-41FA06BF0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56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1pPr>
    <a:lvl2pPr marL="1239244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2pPr>
    <a:lvl3pPr marL="2478488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3pPr>
    <a:lvl4pPr marL="3717735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4pPr>
    <a:lvl5pPr marL="4956979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5pPr>
    <a:lvl6pPr marL="6196223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6pPr>
    <a:lvl7pPr marL="7435467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7pPr>
    <a:lvl8pPr marL="8674710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8pPr>
    <a:lvl9pPr marL="9913955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9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9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77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19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87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4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13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6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67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80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61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CABE-BD8A-4ED8-BE60-32148880DEC7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9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0E3389-7BCD-162C-E6F1-5EB268691827}"/>
              </a:ext>
            </a:extLst>
          </p:cNvPr>
          <p:cNvSpPr/>
          <p:nvPr/>
        </p:nvSpPr>
        <p:spPr>
          <a:xfrm>
            <a:off x="1306486" y="2778351"/>
            <a:ext cx="8632969" cy="14995300"/>
          </a:xfrm>
          <a:prstGeom prst="roundRect">
            <a:avLst>
              <a:gd name="adj" fmla="val 12430"/>
            </a:avLst>
          </a:prstGeom>
          <a:solidFill>
            <a:schemeClr val="bg1"/>
          </a:solidFill>
          <a:ln w="76200">
            <a:solidFill>
              <a:srgbClr val="356DF1"/>
            </a:solidFill>
          </a:ln>
          <a:effectLst>
            <a:outerShdw blurRad="50800" dist="63500" dir="2700000" algn="tl" rotWithShape="0">
              <a:srgbClr val="356DF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3FF34-0008-610F-ADF7-8DEFB5A37705}"/>
              </a:ext>
            </a:extLst>
          </p:cNvPr>
          <p:cNvSpPr txBox="1"/>
          <p:nvPr/>
        </p:nvSpPr>
        <p:spPr>
          <a:xfrm>
            <a:off x="5124743" y="18069334"/>
            <a:ext cx="1314249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/>
              <a:t>Corey Richardson</a:t>
            </a:r>
          </a:p>
          <a:p>
            <a:r>
              <a:rPr lang="en-GB" sz="4800" b="1" dirty="0"/>
              <a:t>corey.richardson@students.plymouth.ac.uk</a:t>
            </a:r>
          </a:p>
          <a:p>
            <a:r>
              <a:rPr lang="en-GB" sz="4800" dirty="0"/>
              <a:t>BSc Computer Science (Software Engineering) 2026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FE9B0-8F21-6E09-9918-B269E041F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6873" y="-371608"/>
            <a:ext cx="7456369" cy="3911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18FC8F-B28E-4FFB-8309-9B4C2D65F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743" y="18260885"/>
            <a:ext cx="3322215" cy="29069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67E1AF-A93F-E580-95CC-B26F3BE98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2615" y="18562926"/>
            <a:ext cx="1760219" cy="17602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81E5E5-C642-26F7-E674-F3F0C35CC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2834" y="18241835"/>
            <a:ext cx="2824332" cy="26831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D763B3-163B-A99D-ADF5-8E482D70D5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166" y="18543876"/>
            <a:ext cx="3055021" cy="18688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A82CA36-729C-ADA3-46D7-3A1532C6853D}"/>
              </a:ext>
            </a:extLst>
          </p:cNvPr>
          <p:cNvSpPr txBox="1"/>
          <p:nvPr/>
        </p:nvSpPr>
        <p:spPr>
          <a:xfrm>
            <a:off x="1306486" y="804749"/>
            <a:ext cx="22128405" cy="1200329"/>
          </a:xfrm>
          <a:prstGeom prst="rect">
            <a:avLst/>
          </a:prstGeom>
          <a:noFill/>
          <a:effectLst>
            <a:outerShdw blurRad="50800" dist="63500" dir="2700000" algn="tl" rotWithShape="0">
              <a:srgbClr val="356DF1">
                <a:alpha val="71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Quicksand" pitchFamily="2" charset="0"/>
              </a:rPr>
              <a:t>Archery Scorekeeper and Club Management Tool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41311-C436-21B9-F8BD-3B0733367C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913" y="16928057"/>
            <a:ext cx="3978274" cy="1275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CAE3F-00ED-C56E-870C-AFD75B077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1644" y="16803304"/>
            <a:ext cx="4538250" cy="11686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3B3A26-E243-0A3E-3719-93A6B5557BE7}"/>
              </a:ext>
            </a:extLst>
          </p:cNvPr>
          <p:cNvSpPr txBox="1"/>
          <p:nvPr/>
        </p:nvSpPr>
        <p:spPr>
          <a:xfrm>
            <a:off x="1510050" y="3335639"/>
            <a:ext cx="8225840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Quicksand" pitchFamily="2" charset="0"/>
              </a:rPr>
              <a:t>Archery clubs are largely volunteer-led. The </a:t>
            </a:r>
            <a:r>
              <a:rPr lang="en-GB" sz="3200" b="1" dirty="0">
                <a:latin typeface="Quicksand" pitchFamily="2" charset="0"/>
              </a:rPr>
              <a:t>Archery Scorekeeper</a:t>
            </a:r>
            <a:r>
              <a:rPr lang="en-GB" sz="3200" dirty="0">
                <a:latin typeface="Quicksand" pitchFamily="2" charset="0"/>
              </a:rPr>
              <a:t> system acts as a digital secretary to assist these volunteers with the management of the club, handling archers’ score submissions and membership records.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With the traditional pen and paper or Excel spreadsheet method of managing scores, club Records Officers can spend </a:t>
            </a:r>
            <a:r>
              <a:rPr lang="en-GB" sz="3200" b="1" dirty="0">
                <a:latin typeface="Quicksand" pitchFamily="2" charset="0"/>
              </a:rPr>
              <a:t>hours</a:t>
            </a:r>
            <a:r>
              <a:rPr lang="en-GB" sz="3200" dirty="0">
                <a:latin typeface="Quicksand" pitchFamily="2" charset="0"/>
              </a:rPr>
              <a:t> staring at handicap tables and cross-referencing values against classification tables. 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This system </a:t>
            </a:r>
            <a:r>
              <a:rPr lang="en-GB" sz="3200" b="1" dirty="0">
                <a:latin typeface="Quicksand" pitchFamily="2" charset="0"/>
              </a:rPr>
              <a:t>automates this process</a:t>
            </a:r>
            <a:r>
              <a:rPr lang="en-GB" sz="3200" dirty="0">
                <a:latin typeface="Quicksand" pitchFamily="2" charset="0"/>
              </a:rPr>
              <a:t> by passing the user submitted scores directly to a Python/Flask microservice to perform the domain-specific</a:t>
            </a:r>
            <a:r>
              <a:rPr lang="en-GB" sz="3200" b="1" dirty="0">
                <a:latin typeface="Quicksand" pitchFamily="2" charset="0"/>
              </a:rPr>
              <a:t> </a:t>
            </a:r>
            <a:r>
              <a:rPr lang="en-GB" sz="3200" dirty="0">
                <a:latin typeface="Quicksand" pitchFamily="2" charset="0"/>
              </a:rPr>
              <a:t>calculations and return the results </a:t>
            </a:r>
            <a:r>
              <a:rPr lang="en-GB" sz="3200" b="1" dirty="0">
                <a:latin typeface="Quicksand" pitchFamily="2" charset="0"/>
              </a:rPr>
              <a:t>instantly</a:t>
            </a:r>
            <a:r>
              <a:rPr lang="en-GB" sz="3200" dirty="0">
                <a:latin typeface="Quicksand" pitchFamily="2" charset="0"/>
              </a:rPr>
              <a:t> to the archer.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Club Secretaries and Tournament Officers can manage their members </a:t>
            </a:r>
            <a:r>
              <a:rPr lang="en-GB" sz="3200" b="1" dirty="0">
                <a:latin typeface="Quicksand" pitchFamily="2" charset="0"/>
              </a:rPr>
              <a:t>emergency contact information</a:t>
            </a:r>
            <a:r>
              <a:rPr lang="en-GB" sz="3200" dirty="0">
                <a:latin typeface="Quicksand" pitchFamily="2" charset="0"/>
              </a:rPr>
              <a:t>, keeping their archers safe at and away from the club.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Integrated journals allow Coaches to </a:t>
            </a:r>
            <a:r>
              <a:rPr lang="en-GB" sz="3200" b="1" dirty="0">
                <a:latin typeface="Quicksand" pitchFamily="2" charset="0"/>
              </a:rPr>
              <a:t>track archers progress</a:t>
            </a:r>
            <a:r>
              <a:rPr lang="en-GB" sz="3200" dirty="0">
                <a:latin typeface="Quicksand" pitchFamily="2" charset="0"/>
              </a:rPr>
              <a:t> via written notes and data metrics.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5BF521-322A-BA17-BE4B-3E72B04FA376}"/>
              </a:ext>
            </a:extLst>
          </p:cNvPr>
          <p:cNvSpPr/>
          <p:nvPr/>
        </p:nvSpPr>
        <p:spPr>
          <a:xfrm>
            <a:off x="10884584" y="2778350"/>
            <a:ext cx="18147603" cy="13655111"/>
          </a:xfrm>
          <a:prstGeom prst="roundRect">
            <a:avLst>
              <a:gd name="adj" fmla="val 8275"/>
            </a:avLst>
          </a:prstGeom>
          <a:solidFill>
            <a:schemeClr val="bg1"/>
          </a:solidFill>
          <a:ln w="76200">
            <a:solidFill>
              <a:srgbClr val="356DF1"/>
            </a:solidFill>
          </a:ln>
          <a:effectLst>
            <a:outerShdw blurRad="50800" dist="63500" dir="2700000" algn="tl" rotWithShape="0">
              <a:srgbClr val="356DF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31D62C-36B3-4B94-1558-A1287D69F87B}"/>
              </a:ext>
            </a:extLst>
          </p:cNvPr>
          <p:cNvSpPr txBox="1"/>
          <p:nvPr/>
        </p:nvSpPr>
        <p:spPr>
          <a:xfrm>
            <a:off x="10991987" y="3157986"/>
            <a:ext cx="8367437" cy="128958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200" b="1" dirty="0">
                <a:latin typeface="Quicksand" pitchFamily="2" charset="0"/>
              </a:rPr>
              <a:t>React Context</a:t>
            </a:r>
            <a:r>
              <a:rPr lang="en-GB" sz="3200" dirty="0">
                <a:latin typeface="Quicksand" pitchFamily="2" charset="0"/>
              </a:rPr>
              <a:t> managed </a:t>
            </a:r>
            <a:r>
              <a:rPr lang="en-GB" sz="3200" b="1" dirty="0">
                <a:latin typeface="Quicksand" pitchFamily="2" charset="0"/>
              </a:rPr>
              <a:t>JWT Authentication</a:t>
            </a:r>
            <a:r>
              <a:rPr lang="en-GB" sz="3200" dirty="0">
                <a:latin typeface="Quicksand" pitchFamily="2" charset="0"/>
              </a:rPr>
              <a:t> ensures API requests are validated by </a:t>
            </a:r>
            <a:r>
              <a:rPr lang="en-GB" sz="3200" b="1" dirty="0">
                <a:latin typeface="Quicksand" pitchFamily="2" charset="0"/>
              </a:rPr>
              <a:t>Express.js middleware</a:t>
            </a:r>
            <a:r>
              <a:rPr lang="en-GB" sz="3200" dirty="0">
                <a:latin typeface="Quicksand" pitchFamily="2" charset="0"/>
              </a:rPr>
              <a:t> before any data is processed or returned.</a:t>
            </a:r>
            <a:endParaRPr lang="en-GB" sz="3200" b="1" dirty="0">
              <a:latin typeface="Quicksand" pitchFamily="2" charset="0"/>
            </a:endParaRPr>
          </a:p>
          <a:p>
            <a:pPr algn="ctr"/>
            <a:endParaRPr lang="en-GB" sz="3200" b="1" dirty="0">
              <a:latin typeface="Quicksand" pitchFamily="2" charset="0"/>
            </a:endParaRPr>
          </a:p>
          <a:p>
            <a:pPr algn="ctr"/>
            <a:r>
              <a:rPr lang="en-GB" sz="3200" b="1" dirty="0">
                <a:latin typeface="Quicksand" pitchFamily="2" charset="0"/>
              </a:rPr>
              <a:t>Role-Based Access Control</a:t>
            </a:r>
            <a:r>
              <a:rPr lang="en-GB" sz="3200" dirty="0">
                <a:latin typeface="Quicksand" pitchFamily="2" charset="0"/>
              </a:rPr>
              <a:t> offers granular permissions, restricting data visibility on the </a:t>
            </a:r>
            <a:r>
              <a:rPr lang="en-GB" sz="3200" b="1" dirty="0">
                <a:latin typeface="Quicksand" pitchFamily="2" charset="0"/>
              </a:rPr>
              <a:t>Principle of Least Privilege</a:t>
            </a:r>
            <a:r>
              <a:rPr lang="en-GB" sz="3200" dirty="0">
                <a:latin typeface="Quicksand" pitchFamily="2" charset="0"/>
              </a:rPr>
              <a:t>.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An </a:t>
            </a:r>
            <a:r>
              <a:rPr lang="en-GB" sz="3200" b="1" dirty="0">
                <a:latin typeface="Quicksand" pitchFamily="2" charset="0"/>
              </a:rPr>
              <a:t>AWS Virtual Private Cloud</a:t>
            </a:r>
            <a:r>
              <a:rPr lang="en-GB" sz="3200" dirty="0">
                <a:latin typeface="Quicksand" pitchFamily="2" charset="0"/>
              </a:rPr>
              <a:t> shields the database and Flask microservice from the public internet. </a:t>
            </a:r>
            <a:r>
              <a:rPr lang="en-GB" sz="3200" b="1" dirty="0">
                <a:latin typeface="Quicksand" pitchFamily="2" charset="0"/>
              </a:rPr>
              <a:t>Amazon CloudFront</a:t>
            </a:r>
            <a:r>
              <a:rPr lang="en-GB" sz="3200" dirty="0">
                <a:latin typeface="Quicksand" pitchFamily="2" charset="0"/>
              </a:rPr>
              <a:t> provides a single entry-point for external traffic, serving static </a:t>
            </a:r>
            <a:r>
              <a:rPr lang="en-GB" sz="3200" b="1" dirty="0">
                <a:latin typeface="Quicksand" pitchFamily="2" charset="0"/>
              </a:rPr>
              <a:t>S3</a:t>
            </a:r>
            <a:r>
              <a:rPr lang="en-GB" sz="3200" dirty="0">
                <a:latin typeface="Quicksand" pitchFamily="2" charset="0"/>
              </a:rPr>
              <a:t> content and routing API traffic to an </a:t>
            </a:r>
            <a:r>
              <a:rPr lang="en-GB" sz="3200" b="1" dirty="0">
                <a:latin typeface="Quicksand" pitchFamily="2" charset="0"/>
              </a:rPr>
              <a:t>ECS Cluster</a:t>
            </a:r>
            <a:r>
              <a:rPr lang="en-GB" sz="3200" dirty="0">
                <a:latin typeface="Quicksand" pitchFamily="2" charset="0"/>
              </a:rPr>
              <a:t>, spanning across </a:t>
            </a:r>
            <a:r>
              <a:rPr lang="en-GB" sz="3200" b="1" dirty="0">
                <a:latin typeface="Quicksand" pitchFamily="2" charset="0"/>
              </a:rPr>
              <a:t>three Availability Zones</a:t>
            </a:r>
            <a:r>
              <a:rPr lang="en-GB" sz="3200" dirty="0">
                <a:latin typeface="Quicksand" pitchFamily="2" charset="0"/>
              </a:rPr>
              <a:t>.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The system was built on </a:t>
            </a:r>
            <a:r>
              <a:rPr lang="en-GB" sz="3200" b="1" dirty="0">
                <a:latin typeface="Quicksand" pitchFamily="2" charset="0"/>
              </a:rPr>
              <a:t>PostgreSQL</a:t>
            </a:r>
            <a:r>
              <a:rPr lang="en-GB" sz="3200" dirty="0">
                <a:latin typeface="Quicksand" pitchFamily="2" charset="0"/>
              </a:rPr>
              <a:t>, </a:t>
            </a:r>
            <a:r>
              <a:rPr lang="en-GB" sz="3200" b="1" dirty="0">
                <a:latin typeface="Quicksand" pitchFamily="2" charset="0"/>
              </a:rPr>
              <a:t>Express.js</a:t>
            </a:r>
            <a:r>
              <a:rPr lang="en-GB" sz="3200" dirty="0">
                <a:latin typeface="Quicksand" pitchFamily="2" charset="0"/>
              </a:rPr>
              <a:t>, </a:t>
            </a:r>
            <a:r>
              <a:rPr lang="en-GB" sz="3200" b="1" dirty="0">
                <a:latin typeface="Quicksand" pitchFamily="2" charset="0"/>
              </a:rPr>
              <a:t>React</a:t>
            </a:r>
            <a:r>
              <a:rPr lang="en-GB" sz="3200" dirty="0">
                <a:latin typeface="Quicksand" pitchFamily="2" charset="0"/>
              </a:rPr>
              <a:t> and </a:t>
            </a:r>
            <a:r>
              <a:rPr lang="en-GB" sz="3200" b="1" dirty="0">
                <a:latin typeface="Quicksand" pitchFamily="2" charset="0"/>
              </a:rPr>
              <a:t>Node.js</a:t>
            </a:r>
            <a:r>
              <a:rPr lang="en-GB" sz="3200" dirty="0">
                <a:latin typeface="Quicksand" pitchFamily="2" charset="0"/>
              </a:rPr>
              <a:t> to provide a modern full-stack foundation, leveraging </a:t>
            </a:r>
            <a:r>
              <a:rPr lang="en-GB" sz="3200" b="1" dirty="0">
                <a:latin typeface="Quicksand" pitchFamily="2" charset="0"/>
              </a:rPr>
              <a:t>Prisma ORM</a:t>
            </a:r>
            <a:r>
              <a:rPr lang="en-GB" sz="3200" dirty="0">
                <a:latin typeface="Quicksand" pitchFamily="2" charset="0"/>
              </a:rPr>
              <a:t> for type-safe data access.</a:t>
            </a:r>
          </a:p>
          <a:p>
            <a:pPr algn="ctr"/>
            <a:endParaRPr lang="en-GB" sz="3200" dirty="0">
              <a:latin typeface="Quicksand" pitchFamily="2" charset="0"/>
            </a:endParaRPr>
          </a:p>
          <a:p>
            <a:pPr algn="ctr"/>
            <a:r>
              <a:rPr lang="en-GB" sz="3200" dirty="0">
                <a:latin typeface="Quicksand" pitchFamily="2" charset="0"/>
              </a:rPr>
              <a:t>Decoupled </a:t>
            </a:r>
            <a:r>
              <a:rPr lang="en-GB" sz="3200" b="1" dirty="0">
                <a:latin typeface="Quicksand" pitchFamily="2" charset="0"/>
              </a:rPr>
              <a:t>Express.js</a:t>
            </a:r>
            <a:r>
              <a:rPr lang="en-GB" sz="3200" dirty="0">
                <a:latin typeface="Quicksand" pitchFamily="2" charset="0"/>
              </a:rPr>
              <a:t> and </a:t>
            </a:r>
            <a:r>
              <a:rPr lang="en-GB" sz="3200" b="1" dirty="0">
                <a:latin typeface="Quicksand" pitchFamily="2" charset="0"/>
              </a:rPr>
              <a:t>Flask</a:t>
            </a:r>
            <a:r>
              <a:rPr lang="en-GB" sz="3200" dirty="0">
                <a:latin typeface="Quicksand" pitchFamily="2" charset="0"/>
              </a:rPr>
              <a:t> microservices communicate over a secure, private bridge network, via </a:t>
            </a:r>
            <a:r>
              <a:rPr lang="en-GB" sz="3200" b="1" dirty="0">
                <a:latin typeface="Quicksand" pitchFamily="2" charset="0"/>
              </a:rPr>
              <a:t>AWS Cloud.</a:t>
            </a:r>
            <a:endParaRPr lang="en-GB" sz="3200" dirty="0">
              <a:latin typeface="Quicksand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1B4DAEE-BB54-0984-70F2-A3DAADF0E4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4635" y="16125683"/>
            <a:ext cx="3253628" cy="325362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AF95448-B0D5-A7F3-0F1F-2117F3C34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26177" y="16652525"/>
            <a:ext cx="9452353" cy="94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646267-9C60-EEC9-38A2-BF1DA34C90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906" y="16836167"/>
            <a:ext cx="2128510" cy="187076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7EA41903-B29A-5A05-C0EF-991E004FFF6A}"/>
              </a:ext>
            </a:extLst>
          </p:cNvPr>
          <p:cNvGrpSpPr/>
          <p:nvPr/>
        </p:nvGrpSpPr>
        <p:grpSpPr>
          <a:xfrm>
            <a:off x="19464874" y="3559002"/>
            <a:ext cx="9423762" cy="12093806"/>
            <a:chOff x="19466827" y="3644765"/>
            <a:chExt cx="9423762" cy="1209380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04ECBC5-9B62-3003-379A-B14A86A2D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470874" y="3644765"/>
              <a:ext cx="9419715" cy="1110764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0180E7-6B8A-F34A-FBB5-F9F58B7747CB}"/>
                </a:ext>
              </a:extLst>
            </p:cNvPr>
            <p:cNvSpPr txBox="1"/>
            <p:nvPr/>
          </p:nvSpPr>
          <p:spPr>
            <a:xfrm>
              <a:off x="19466827" y="15153796"/>
              <a:ext cx="94197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Quicksand" pitchFamily="2" charset="0"/>
                </a:rPr>
                <a:t>https://www.archeryscorekeeper.co.uk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5175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dc781de3-bafc-4db7-a392-5d8a9e9bc0f5" xsi:nil="true"/>
    <Invited_Students xmlns="dc781de3-bafc-4db7-a392-5d8a9e9bc0f5" xsi:nil="true"/>
    <FolderType xmlns="dc781de3-bafc-4db7-a392-5d8a9e9bc0f5" xsi:nil="true"/>
    <Owner xmlns="dc781de3-bafc-4db7-a392-5d8a9e9bc0f5">
      <UserInfo>
        <DisplayName/>
        <AccountId xsi:nil="true"/>
        <AccountType/>
      </UserInfo>
    </Owner>
    <AppVersion xmlns="dc781de3-bafc-4db7-a392-5d8a9e9bc0f5" xsi:nil="true"/>
    <DefaultSectionNames xmlns="dc781de3-bafc-4db7-a392-5d8a9e9bc0f5" xsi:nil="true"/>
    <Teachers xmlns="dc781de3-bafc-4db7-a392-5d8a9e9bc0f5">
      <UserInfo>
        <DisplayName/>
        <AccountId xsi:nil="true"/>
        <AccountType/>
      </UserInfo>
    </Teachers>
    <Students xmlns="dc781de3-bafc-4db7-a392-5d8a9e9bc0f5">
      <UserInfo>
        <DisplayName/>
        <AccountId xsi:nil="true"/>
        <AccountType/>
      </UserInfo>
    </Students>
    <Student_Groups xmlns="dc781de3-bafc-4db7-a392-5d8a9e9bc0f5">
      <UserInfo>
        <DisplayName/>
        <AccountId xsi:nil="true"/>
        <AccountType/>
      </UserInfo>
    </Student_Groups>
    <Invited_Teachers xmlns="dc781de3-bafc-4db7-a392-5d8a9e9bc0f5" xsi:nil="true"/>
    <Self_Registration_Enabled xmlns="dc781de3-bafc-4db7-a392-5d8a9e9bc0f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530F9ADBD1D48AC3974C37B1F16E8" ma:contentTypeVersion="24" ma:contentTypeDescription="Create a new document." ma:contentTypeScope="" ma:versionID="70394ba201040ca3d815e3c4f7012274">
  <xsd:schema xmlns:xsd="http://www.w3.org/2001/XMLSchema" xmlns:xs="http://www.w3.org/2001/XMLSchema" xmlns:p="http://schemas.microsoft.com/office/2006/metadata/properties" xmlns:ns3="72339acb-e8cc-4142-9dab-9dca3e7dada8" xmlns:ns4="dc781de3-bafc-4db7-a392-5d8a9e9bc0f5" targetNamespace="http://schemas.microsoft.com/office/2006/metadata/properties" ma:root="true" ma:fieldsID="d0d4fd1207dbf170f06c018f7c6b1e9a" ns3:_="" ns4:_="">
    <xsd:import namespace="72339acb-e8cc-4142-9dab-9dca3e7dada8"/>
    <xsd:import namespace="dc781de3-bafc-4db7-a392-5d8a9e9bc0f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39acb-e8cc-4142-9dab-9dca3e7dad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781de3-bafc-4db7-a392-5d8a9e9bc0f5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chers" ma:index="1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MediaServiceMetadata" ma:index="2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2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6" nillable="true" ma:displayName="MediaServiceLocation" ma:internalName="MediaServiceLocation" ma:readOnly="true">
      <xsd:simpleType>
        <xsd:restriction base="dms:Text"/>
      </xsd:simpleType>
    </xsd:element>
    <xsd:element name="MediaServiceOCR" ma:index="2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E91343-FC66-4181-B87C-9673093321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338919-CAB7-4AC9-BE2B-610C7C37C733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dc781de3-bafc-4db7-a392-5d8a9e9bc0f5"/>
    <ds:schemaRef ds:uri="72339acb-e8cc-4142-9dab-9dca3e7dada8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556809-3C50-4FFA-808E-E6B975D925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39acb-e8cc-4142-9dab-9dca3e7dada8"/>
    <ds:schemaRef ds:uri="dc781de3-bafc-4db7-a392-5d8a9e9bc0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1515</TotalTime>
  <Words>309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Quicksand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Truscott</dc:creator>
  <cp:lastModifiedBy>(s) Corey Richardson</cp:lastModifiedBy>
  <cp:revision>10</cp:revision>
  <dcterms:created xsi:type="dcterms:W3CDTF">2021-02-16T17:14:33Z</dcterms:created>
  <dcterms:modified xsi:type="dcterms:W3CDTF">2026-04-19T15:36:11Z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0x010100183530F9ADBD1D48AC3974C37B1F16E8</vt:lpwstr>
  </property>
</Properties>
</file>