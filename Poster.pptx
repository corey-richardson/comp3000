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57" r:id="rId5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104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6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958" autoAdjust="0"/>
  </p:normalViewPr>
  <p:slideViewPr>
    <p:cSldViewPr snapToGrid="0">
      <p:cViewPr varScale="1">
        <p:scale>
          <a:sx n="50" d="100"/>
          <a:sy n="50" d="100"/>
        </p:scale>
        <p:origin x="3216" y="48"/>
      </p:cViewPr>
      <p:guideLst>
        <p:guide orient="horz" pos="6735"/>
        <p:guide pos="1045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400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2206F-7194-4E11-805A-5295AF5385CE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DB113-0FB7-4D54-B6D0-41FA06BF0F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568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1pPr>
    <a:lvl2pPr marL="1239244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2pPr>
    <a:lvl3pPr marL="2478488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3pPr>
    <a:lvl4pPr marL="3717735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4pPr>
    <a:lvl5pPr marL="4956979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5pPr>
    <a:lvl6pPr marL="6196223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6pPr>
    <a:lvl7pPr marL="7435467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7pPr>
    <a:lvl8pPr marL="8674710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8pPr>
    <a:lvl9pPr marL="9913955" algn="l" defTabSz="2478488" rtl="0" eaLnBrk="1" latinLnBrk="0" hangingPunct="1">
      <a:defRPr sz="325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96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19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77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19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87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4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13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965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67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80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61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1CABE-BD8A-4ED8-BE60-32148880DEC7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98FD9-7F7D-42BE-B639-3A1D2BE5E1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99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0E3389-7BCD-162C-E6F1-5EB268691827}"/>
              </a:ext>
            </a:extLst>
          </p:cNvPr>
          <p:cNvSpPr/>
          <p:nvPr/>
        </p:nvSpPr>
        <p:spPr>
          <a:xfrm>
            <a:off x="1306486" y="3859697"/>
            <a:ext cx="8632969" cy="14106754"/>
          </a:xfrm>
          <a:prstGeom prst="roundRect">
            <a:avLst>
              <a:gd name="adj" fmla="val 12430"/>
            </a:avLst>
          </a:prstGeom>
          <a:solidFill>
            <a:schemeClr val="bg1"/>
          </a:solidFill>
          <a:ln w="76200">
            <a:solidFill>
              <a:srgbClr val="356DF1"/>
            </a:solidFill>
          </a:ln>
          <a:effectLst>
            <a:outerShdw blurRad="50800" dist="63500" dir="2700000" algn="tl" rotWithShape="0">
              <a:srgbClr val="356DF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3FF34-0008-610F-ADF7-8DEFB5A37705}"/>
              </a:ext>
            </a:extLst>
          </p:cNvPr>
          <p:cNvSpPr txBox="1"/>
          <p:nvPr/>
        </p:nvSpPr>
        <p:spPr>
          <a:xfrm>
            <a:off x="5131636" y="17966451"/>
            <a:ext cx="1314249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/>
              <a:t>Corey Richardson</a:t>
            </a:r>
          </a:p>
          <a:p>
            <a:r>
              <a:rPr lang="en-GB" sz="4800" b="1" dirty="0"/>
              <a:t>corey.richardson@students.plymouth.ac.uk</a:t>
            </a:r>
          </a:p>
          <a:p>
            <a:r>
              <a:rPr lang="en-GB" sz="4800" dirty="0"/>
              <a:t>BSc Computer Science (Software Engineering) 2026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FE9B0-8F21-6E09-9918-B269E041F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6873" y="-371608"/>
            <a:ext cx="7456369" cy="39118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18FC8F-B28E-4FFB-8309-9B4C2D65F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7279" y="18184685"/>
            <a:ext cx="3322215" cy="29069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67E1AF-A93F-E580-95CC-B26F3BE98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9151" y="18486726"/>
            <a:ext cx="1760219" cy="17602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81E5E5-C642-26F7-E674-F3F0C35CC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9370" y="18184685"/>
            <a:ext cx="2824332" cy="26831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9D763B3-163B-A99D-ADF5-8E482D70D5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3702" y="18486726"/>
            <a:ext cx="3055021" cy="18688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A82CA36-729C-ADA3-46D7-3A1532C6853D}"/>
              </a:ext>
            </a:extLst>
          </p:cNvPr>
          <p:cNvSpPr txBox="1"/>
          <p:nvPr/>
        </p:nvSpPr>
        <p:spPr>
          <a:xfrm>
            <a:off x="6840314" y="616407"/>
            <a:ext cx="16594577" cy="2923877"/>
          </a:xfrm>
          <a:prstGeom prst="rect">
            <a:avLst/>
          </a:prstGeom>
          <a:noFill/>
          <a:effectLst>
            <a:outerShdw blurRad="50800" dist="63500" dir="2700000" algn="tl" rotWithShape="0">
              <a:srgbClr val="356DF1">
                <a:alpha val="71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>
                <a:latin typeface="Quicksand" pitchFamily="2" charset="0"/>
              </a:rPr>
              <a:t>Archery Scorekeeper </a:t>
            </a:r>
            <a:r>
              <a:rPr lang="en-GB" sz="8800" b="1" dirty="0">
                <a:latin typeface="Quicksand" pitchFamily="2" charset="0"/>
              </a:rPr>
              <a:t>and Club Management Tool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41311-C436-21B9-F8BD-3B0733367C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1367" y="16718130"/>
            <a:ext cx="4573527" cy="1466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ACAE3F-00ED-C56E-870C-AFD75B077B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8982" y="16699143"/>
            <a:ext cx="5076752" cy="13072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3B3A26-E243-0A3E-3719-93A6B5557BE7}"/>
              </a:ext>
            </a:extLst>
          </p:cNvPr>
          <p:cNvSpPr txBox="1"/>
          <p:nvPr/>
        </p:nvSpPr>
        <p:spPr>
          <a:xfrm>
            <a:off x="1510050" y="4096230"/>
            <a:ext cx="822584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Quicksand" pitchFamily="2" charset="0"/>
              </a:rPr>
              <a:t>Archery clubs are largely volunteer-led. The </a:t>
            </a:r>
            <a:r>
              <a:rPr lang="en-GB" sz="2800" b="1" dirty="0">
                <a:latin typeface="Quicksand" pitchFamily="2" charset="0"/>
              </a:rPr>
              <a:t>Archery Scorekeeper</a:t>
            </a:r>
            <a:r>
              <a:rPr lang="en-GB" sz="2800" dirty="0">
                <a:latin typeface="Quicksand" pitchFamily="2" charset="0"/>
              </a:rPr>
              <a:t> system acts as a digital secretary to assist these volunteers with the management of the club, handling archers’ score submissions and membership records.</a:t>
            </a:r>
          </a:p>
          <a:p>
            <a:pPr algn="ctr"/>
            <a:endParaRPr lang="en-GB" sz="2800" dirty="0">
              <a:latin typeface="Quicksand" pitchFamily="2" charset="0"/>
            </a:endParaRPr>
          </a:p>
          <a:p>
            <a:pPr algn="ctr"/>
            <a:r>
              <a:rPr lang="en-GB" sz="2800" dirty="0">
                <a:latin typeface="Quicksand" pitchFamily="2" charset="0"/>
              </a:rPr>
              <a:t>With the traditional pen and paper or Excel spreadsheet method of managing scores, club Records Officers can spend </a:t>
            </a:r>
            <a:r>
              <a:rPr lang="en-GB" sz="2800" b="1" dirty="0">
                <a:latin typeface="Quicksand" pitchFamily="2" charset="0"/>
              </a:rPr>
              <a:t>hours</a:t>
            </a:r>
            <a:r>
              <a:rPr lang="en-GB" sz="2800" dirty="0">
                <a:latin typeface="Quicksand" pitchFamily="2" charset="0"/>
              </a:rPr>
              <a:t> staring at handicap tables and cross-referencing values against classification tables. This system </a:t>
            </a:r>
            <a:r>
              <a:rPr lang="en-GB" sz="2800" b="1" dirty="0">
                <a:latin typeface="Quicksand" pitchFamily="2" charset="0"/>
              </a:rPr>
              <a:t>automates this process</a:t>
            </a:r>
            <a:r>
              <a:rPr lang="en-GB" sz="2800" dirty="0">
                <a:latin typeface="Quicksand" pitchFamily="2" charset="0"/>
              </a:rPr>
              <a:t> by passing the user submitted scores directly to a Flask container to perform the </a:t>
            </a:r>
            <a:r>
              <a:rPr lang="en-GB" sz="2800" b="1" dirty="0">
                <a:latin typeface="Quicksand" pitchFamily="2" charset="0"/>
              </a:rPr>
              <a:t>domain-specific calculations</a:t>
            </a:r>
            <a:r>
              <a:rPr lang="en-GB" sz="2800" dirty="0">
                <a:latin typeface="Quicksand" pitchFamily="2" charset="0"/>
              </a:rPr>
              <a:t> and return the results </a:t>
            </a:r>
            <a:r>
              <a:rPr lang="en-GB" sz="2800" b="1" dirty="0">
                <a:latin typeface="Quicksand" pitchFamily="2" charset="0"/>
              </a:rPr>
              <a:t>instantly</a:t>
            </a:r>
            <a:r>
              <a:rPr lang="en-GB" sz="2800" dirty="0">
                <a:latin typeface="Quicksand" pitchFamily="2" charset="0"/>
              </a:rPr>
              <a:t> to the archer.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3F8793-6CBA-9F12-E33C-C3963835E5AC}"/>
              </a:ext>
            </a:extLst>
          </p:cNvPr>
          <p:cNvSpPr/>
          <p:nvPr/>
        </p:nvSpPr>
        <p:spPr>
          <a:xfrm>
            <a:off x="10821120" y="3842325"/>
            <a:ext cx="8632969" cy="12573762"/>
          </a:xfrm>
          <a:prstGeom prst="roundRect">
            <a:avLst>
              <a:gd name="adj" fmla="val 12430"/>
            </a:avLst>
          </a:prstGeom>
          <a:solidFill>
            <a:schemeClr val="bg1"/>
          </a:solidFill>
          <a:ln w="76200">
            <a:solidFill>
              <a:srgbClr val="356DF1"/>
            </a:solidFill>
          </a:ln>
          <a:effectLst>
            <a:outerShdw blurRad="50800" dist="63500" dir="2700000" algn="tl" rotWithShape="0">
              <a:srgbClr val="356DF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E5BF521-322A-BA17-BE4B-3E72B04FA376}"/>
              </a:ext>
            </a:extLst>
          </p:cNvPr>
          <p:cNvSpPr/>
          <p:nvPr/>
        </p:nvSpPr>
        <p:spPr>
          <a:xfrm>
            <a:off x="20335754" y="3933548"/>
            <a:ext cx="8632969" cy="12482539"/>
          </a:xfrm>
          <a:prstGeom prst="roundRect">
            <a:avLst>
              <a:gd name="adj" fmla="val 12430"/>
            </a:avLst>
          </a:prstGeom>
          <a:solidFill>
            <a:schemeClr val="bg1"/>
          </a:solidFill>
          <a:ln w="76200">
            <a:solidFill>
              <a:srgbClr val="356DF1"/>
            </a:solidFill>
          </a:ln>
          <a:effectLst>
            <a:outerShdw blurRad="50800" dist="63500" dir="2700000" algn="tl" rotWithShape="0">
              <a:srgbClr val="356DF1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31D62C-36B3-4B94-1558-A1287D69F87B}"/>
              </a:ext>
            </a:extLst>
          </p:cNvPr>
          <p:cNvSpPr txBox="1"/>
          <p:nvPr/>
        </p:nvSpPr>
        <p:spPr>
          <a:xfrm>
            <a:off x="11024682" y="4050619"/>
            <a:ext cx="8225840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Quicksand" pitchFamily="2" charset="0"/>
              </a:rPr>
              <a:t>The system uses a multiple layer security methodology. Access to the website is governed by </a:t>
            </a:r>
            <a:r>
              <a:rPr lang="en-GB" sz="2800" b="1" dirty="0">
                <a:latin typeface="Quicksand" pitchFamily="2" charset="0"/>
              </a:rPr>
              <a:t>JWT Authentication</a:t>
            </a:r>
            <a:r>
              <a:rPr lang="en-GB" sz="2800" dirty="0">
                <a:latin typeface="Quicksand" pitchFamily="2" charset="0"/>
              </a:rPr>
              <a:t>, handled by a </a:t>
            </a:r>
            <a:r>
              <a:rPr lang="en-GB" sz="2800" b="1" dirty="0">
                <a:latin typeface="Quicksand" pitchFamily="2" charset="0"/>
              </a:rPr>
              <a:t>React Context Hook</a:t>
            </a:r>
            <a:r>
              <a:rPr lang="en-GB" sz="2800" dirty="0">
                <a:latin typeface="Quicksand" pitchFamily="2" charset="0"/>
              </a:rPr>
              <a:t> and persisted in local storage. The hook injects the </a:t>
            </a:r>
            <a:r>
              <a:rPr lang="en-GB" sz="2800" b="1" dirty="0">
                <a:latin typeface="Quicksand" pitchFamily="2" charset="0"/>
              </a:rPr>
              <a:t>authentication header</a:t>
            </a:r>
            <a:r>
              <a:rPr lang="en-GB" sz="2800" dirty="0">
                <a:latin typeface="Quicksand" pitchFamily="2" charset="0"/>
              </a:rPr>
              <a:t> into any </a:t>
            </a:r>
            <a:r>
              <a:rPr lang="en-GB" sz="2800" b="1" dirty="0">
                <a:latin typeface="Quicksand" pitchFamily="2" charset="0"/>
              </a:rPr>
              <a:t>API request</a:t>
            </a:r>
            <a:r>
              <a:rPr lang="en-GB" sz="2800" dirty="0">
                <a:latin typeface="Quicksand" pitchFamily="2" charset="0"/>
              </a:rPr>
              <a:t>, and the </a:t>
            </a:r>
            <a:r>
              <a:rPr lang="en-GB" sz="2800" b="1" dirty="0">
                <a:latin typeface="Quicksand" pitchFamily="2" charset="0"/>
              </a:rPr>
              <a:t>middleware</a:t>
            </a:r>
            <a:r>
              <a:rPr lang="en-GB" sz="2800" dirty="0">
                <a:latin typeface="Quicksand" pitchFamily="2" charset="0"/>
              </a:rPr>
              <a:t> blocks any request with a missing or invalid token. This is bolstered by an </a:t>
            </a:r>
            <a:r>
              <a:rPr lang="en-GB" sz="2800" b="1" dirty="0">
                <a:latin typeface="Quicksand" pitchFamily="2" charset="0"/>
              </a:rPr>
              <a:t>API-first Security</a:t>
            </a:r>
            <a:r>
              <a:rPr lang="en-GB" sz="2800" dirty="0">
                <a:latin typeface="Quicksand" pitchFamily="2" charset="0"/>
              </a:rPr>
              <a:t> architecture, with the Express backend stripping PII from the return values during the data serialisation phase, evaluated by the </a:t>
            </a:r>
            <a:r>
              <a:rPr lang="en-GB" sz="2800" b="1" dirty="0">
                <a:latin typeface="Quicksand" pitchFamily="2" charset="0"/>
              </a:rPr>
              <a:t>Role Based Access Control</a:t>
            </a:r>
            <a:r>
              <a:rPr lang="en-GB" sz="2800" dirty="0">
                <a:latin typeface="Quicksand" pitchFamily="2" charset="0"/>
              </a:rPr>
              <a:t> permission level of the requestor.</a:t>
            </a:r>
          </a:p>
          <a:p>
            <a:pPr algn="ctr"/>
            <a:endParaRPr lang="en-GB" sz="2800" dirty="0">
              <a:latin typeface="Quicksand" pitchFamily="2" charset="0"/>
            </a:endParaRPr>
          </a:p>
          <a:p>
            <a:pPr algn="ctr"/>
            <a:r>
              <a:rPr lang="en-GB" sz="2800" dirty="0">
                <a:latin typeface="Quicksand" pitchFamily="2" charset="0"/>
              </a:rPr>
              <a:t>RBAC allows the members of a club to </a:t>
            </a:r>
            <a:r>
              <a:rPr lang="en-GB" sz="2800" b="1" dirty="0">
                <a:latin typeface="Quicksand" pitchFamily="2" charset="0"/>
              </a:rPr>
              <a:t>securely manage and own their own data profiles</a:t>
            </a:r>
            <a:r>
              <a:rPr lang="en-GB" sz="2800" dirty="0">
                <a:latin typeface="Quicksand" pitchFamily="2" charset="0"/>
              </a:rPr>
              <a:t>, whilst club officer roles giving volunteers access to </a:t>
            </a:r>
            <a:r>
              <a:rPr lang="en-GB" sz="2800" b="1" dirty="0">
                <a:latin typeface="Quicksand" pitchFamily="2" charset="0"/>
              </a:rPr>
              <a:t>specialised features</a:t>
            </a:r>
            <a:r>
              <a:rPr lang="en-GB" sz="2800" dirty="0">
                <a:latin typeface="Quicksand" pitchFamily="2" charset="0"/>
              </a:rPr>
              <a:t> which allow them to perform the duties of </a:t>
            </a:r>
            <a:r>
              <a:rPr lang="en-GB" sz="2800">
                <a:latin typeface="Quicksand" pitchFamily="2" charset="0"/>
              </a:rPr>
              <a:t>their role; </a:t>
            </a:r>
            <a:r>
              <a:rPr lang="en-GB" sz="2800" dirty="0">
                <a:latin typeface="Quicksand" pitchFamily="2" charset="0"/>
              </a:rPr>
              <a:t>Records Officers can </a:t>
            </a:r>
            <a:r>
              <a:rPr lang="en-GB" sz="2800" b="1" dirty="0">
                <a:latin typeface="Quicksand" pitchFamily="2" charset="0"/>
              </a:rPr>
              <a:t>manage scores</a:t>
            </a:r>
            <a:r>
              <a:rPr lang="en-GB" sz="2800" dirty="0">
                <a:latin typeface="Quicksand" pitchFamily="2" charset="0"/>
              </a:rPr>
              <a:t>, Admins can </a:t>
            </a:r>
            <a:r>
              <a:rPr lang="en-GB" sz="2800" b="1" dirty="0">
                <a:latin typeface="Quicksand" pitchFamily="2" charset="0"/>
              </a:rPr>
              <a:t>validate memberships</a:t>
            </a:r>
            <a:r>
              <a:rPr lang="en-GB" sz="2800" dirty="0">
                <a:latin typeface="Quicksand" pitchFamily="2" charset="0"/>
              </a:rPr>
              <a:t>, coaches can track journals that an archer keeps for </a:t>
            </a:r>
            <a:r>
              <a:rPr lang="en-GB" sz="2800" b="1" dirty="0">
                <a:latin typeface="Quicksand" pitchFamily="2" charset="0"/>
              </a:rPr>
              <a:t>performance metrics</a:t>
            </a:r>
            <a:r>
              <a:rPr lang="en-GB" sz="2800" dirty="0">
                <a:latin typeface="Quicksand" pitchFamily="2" charset="0"/>
              </a:rPr>
              <a:t>.</a:t>
            </a:r>
          </a:p>
          <a:p>
            <a:pPr algn="ctr"/>
            <a:endParaRPr lang="en-GB" sz="2800" dirty="0">
              <a:latin typeface="Quicksand" pitchFamily="2" charset="0"/>
            </a:endParaRPr>
          </a:p>
          <a:p>
            <a:pPr algn="ctr"/>
            <a:r>
              <a:rPr lang="en-GB" sz="2800" dirty="0">
                <a:latin typeface="Quicksand" pitchFamily="2" charset="0"/>
              </a:rPr>
              <a:t>Data is further shielded by the </a:t>
            </a:r>
            <a:r>
              <a:rPr lang="en-GB" sz="2800" b="1" dirty="0">
                <a:latin typeface="Quicksand" pitchFamily="2" charset="0"/>
              </a:rPr>
              <a:t>Dockerised</a:t>
            </a:r>
            <a:r>
              <a:rPr lang="en-GB" sz="2800" dirty="0">
                <a:latin typeface="Quicksand" pitchFamily="2" charset="0"/>
              </a:rPr>
              <a:t> infrastructure, hosting the PostgreSQL database alongside the microservices on an </a:t>
            </a:r>
            <a:r>
              <a:rPr lang="en-GB" sz="2800" b="1" dirty="0">
                <a:latin typeface="Quicksand" pitchFamily="2" charset="0"/>
              </a:rPr>
              <a:t>isolated virtual bridge network</a:t>
            </a:r>
            <a:r>
              <a:rPr lang="en-GB" sz="2800" dirty="0">
                <a:latin typeface="Quicksand" pitchFamily="2" charset="0"/>
              </a:rPr>
              <a:t>, keeping sensitive data traffic internal on the server on a closed loop, off of the public internet during calculations.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1B4DAEE-BB54-0984-70F2-A3DAADF0E4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0322" y="15745308"/>
            <a:ext cx="4035852" cy="403585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B8610EF-FA00-9316-395A-7528362D3A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9043" y="10971284"/>
            <a:ext cx="7747853" cy="632477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240C629-431B-F115-F4C1-97DBBC5C1A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07117" y="4405240"/>
            <a:ext cx="7490241" cy="754671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739C2D0-FBEF-CE04-9EA2-558CA090EB31}"/>
              </a:ext>
            </a:extLst>
          </p:cNvPr>
          <p:cNvSpPr txBox="1"/>
          <p:nvPr/>
        </p:nvSpPr>
        <p:spPr>
          <a:xfrm>
            <a:off x="20539317" y="12579401"/>
            <a:ext cx="82258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Quicksand" pitchFamily="2" charset="0"/>
              </a:rPr>
              <a:t>The system uses a Full-stack </a:t>
            </a:r>
            <a:r>
              <a:rPr lang="en-GB" sz="2800" b="1" dirty="0">
                <a:latin typeface="Quicksand" pitchFamily="2" charset="0"/>
              </a:rPr>
              <a:t>PERN</a:t>
            </a:r>
            <a:r>
              <a:rPr lang="en-GB" sz="2800" dirty="0">
                <a:latin typeface="Quicksand" pitchFamily="2" charset="0"/>
              </a:rPr>
              <a:t> based architecture, using the </a:t>
            </a:r>
            <a:r>
              <a:rPr lang="en-GB" sz="2800" b="1" dirty="0">
                <a:latin typeface="Quicksand" pitchFamily="2" charset="0"/>
              </a:rPr>
              <a:t>Prisma ORM</a:t>
            </a:r>
            <a:r>
              <a:rPr lang="en-GB" sz="2800" dirty="0">
                <a:latin typeface="Quicksand" pitchFamily="2" charset="0"/>
              </a:rPr>
              <a:t>, and </a:t>
            </a:r>
            <a:r>
              <a:rPr lang="en-GB" sz="2800" b="1" dirty="0">
                <a:latin typeface="Quicksand" pitchFamily="2" charset="0"/>
              </a:rPr>
              <a:t>Docker</a:t>
            </a:r>
            <a:r>
              <a:rPr lang="en-GB" sz="2800" dirty="0">
                <a:latin typeface="Quicksand" pitchFamily="2" charset="0"/>
              </a:rPr>
              <a:t> for containerisation between the frontend, backend, database and a </a:t>
            </a:r>
            <a:r>
              <a:rPr lang="en-GB" sz="2800" b="1" dirty="0">
                <a:latin typeface="Quicksand" pitchFamily="2" charset="0"/>
              </a:rPr>
              <a:t>Python Flask</a:t>
            </a:r>
            <a:r>
              <a:rPr lang="en-GB" sz="2800" dirty="0">
                <a:latin typeface="Quicksand" pitchFamily="2" charset="0"/>
              </a:rPr>
              <a:t> container running the </a:t>
            </a:r>
            <a:r>
              <a:rPr lang="en-GB" sz="2800" b="1" dirty="0">
                <a:latin typeface="Quicksand" pitchFamily="2" charset="0"/>
              </a:rPr>
              <a:t>archeryutils</a:t>
            </a:r>
            <a:r>
              <a:rPr lang="en-GB" sz="2800" dirty="0">
                <a:latin typeface="Quicksand" pitchFamily="2" charset="0"/>
              </a:rPr>
              <a:t> library to handle automated score classifications and handicapping.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AF95448-B0D5-A7F3-0F1F-2117F3C34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26177" y="16652525"/>
            <a:ext cx="9452353" cy="94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175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3530F9ADBD1D48AC3974C37B1F16E8" ma:contentTypeVersion="24" ma:contentTypeDescription="Create a new document." ma:contentTypeScope="" ma:versionID="70394ba201040ca3d815e3c4f7012274">
  <xsd:schema xmlns:xsd="http://www.w3.org/2001/XMLSchema" xmlns:xs="http://www.w3.org/2001/XMLSchema" xmlns:p="http://schemas.microsoft.com/office/2006/metadata/properties" xmlns:ns3="72339acb-e8cc-4142-9dab-9dca3e7dada8" xmlns:ns4="dc781de3-bafc-4db7-a392-5d8a9e9bc0f5" targetNamespace="http://schemas.microsoft.com/office/2006/metadata/properties" ma:root="true" ma:fieldsID="d0d4fd1207dbf170f06c018f7c6b1e9a" ns3:_="" ns4:_="">
    <xsd:import namespace="72339acb-e8cc-4142-9dab-9dca3e7dada8"/>
    <xsd:import namespace="dc781de3-bafc-4db7-a392-5d8a9e9bc0f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NotebookType" minOccurs="0"/>
                <xsd:element ref="ns4:FolderType" minOccurs="0"/>
                <xsd:element ref="ns4:Owner" minOccurs="0"/>
                <xsd:element ref="ns4:DefaultSectionNames" minOccurs="0"/>
                <xsd:element ref="ns4:AppVersion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39acb-e8cc-4142-9dab-9dca3e7dad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781de3-bafc-4db7-a392-5d8a9e9bc0f5" elementFormDefault="qualified">
    <xsd:import namespace="http://schemas.microsoft.com/office/2006/documentManagement/types"/>
    <xsd:import namespace="http://schemas.microsoft.com/office/infopath/2007/PartnerControls"/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4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AppVersion" ma:index="15" nillable="true" ma:displayName="App Version" ma:internalName="AppVersion">
      <xsd:simpleType>
        <xsd:restriction base="dms:Text"/>
      </xsd:simpleType>
    </xsd:element>
    <xsd:element name="Teachers" ma:index="16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7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8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9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0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1" nillable="true" ma:displayName="Self_Registration_Enabled" ma:internalName="Self_Registration_Enabled">
      <xsd:simpleType>
        <xsd:restriction base="dms:Boolean"/>
      </xsd:simpleType>
    </xsd:element>
    <xsd:element name="MediaServiceMetadata" ma:index="2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4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2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6" nillable="true" ma:displayName="MediaServiceLocation" ma:internalName="MediaServiceLocation" ma:readOnly="true">
      <xsd:simpleType>
        <xsd:restriction base="dms:Text"/>
      </xsd:simpleType>
    </xsd:element>
    <xsd:element name="MediaServiceOCR" ma:index="2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dc781de3-bafc-4db7-a392-5d8a9e9bc0f5" xsi:nil="true"/>
    <Invited_Students xmlns="dc781de3-bafc-4db7-a392-5d8a9e9bc0f5" xsi:nil="true"/>
    <FolderType xmlns="dc781de3-bafc-4db7-a392-5d8a9e9bc0f5" xsi:nil="true"/>
    <Owner xmlns="dc781de3-bafc-4db7-a392-5d8a9e9bc0f5">
      <UserInfo>
        <DisplayName/>
        <AccountId xsi:nil="true"/>
        <AccountType/>
      </UserInfo>
    </Owner>
    <AppVersion xmlns="dc781de3-bafc-4db7-a392-5d8a9e9bc0f5" xsi:nil="true"/>
    <DefaultSectionNames xmlns="dc781de3-bafc-4db7-a392-5d8a9e9bc0f5" xsi:nil="true"/>
    <Teachers xmlns="dc781de3-bafc-4db7-a392-5d8a9e9bc0f5">
      <UserInfo>
        <DisplayName/>
        <AccountId xsi:nil="true"/>
        <AccountType/>
      </UserInfo>
    </Teachers>
    <Students xmlns="dc781de3-bafc-4db7-a392-5d8a9e9bc0f5">
      <UserInfo>
        <DisplayName/>
        <AccountId xsi:nil="true"/>
        <AccountType/>
      </UserInfo>
    </Students>
    <Student_Groups xmlns="dc781de3-bafc-4db7-a392-5d8a9e9bc0f5">
      <UserInfo>
        <DisplayName/>
        <AccountId xsi:nil="true"/>
        <AccountType/>
      </UserInfo>
    </Student_Groups>
    <Invited_Teachers xmlns="dc781de3-bafc-4db7-a392-5d8a9e9bc0f5" xsi:nil="true"/>
    <Self_Registration_Enabled xmlns="dc781de3-bafc-4db7-a392-5d8a9e9bc0f5" xsi:nil="true"/>
  </documentManagement>
</p:properties>
</file>

<file path=customXml/itemProps1.xml><?xml version="1.0" encoding="utf-8"?>
<ds:datastoreItem xmlns:ds="http://schemas.openxmlformats.org/officeDocument/2006/customXml" ds:itemID="{90E91343-FC66-4181-B87C-9673093321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556809-3C50-4FFA-808E-E6B975D925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339acb-e8cc-4142-9dab-9dca3e7dada8"/>
    <ds:schemaRef ds:uri="dc781de3-bafc-4db7-a392-5d8a9e9bc0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338919-CAB7-4AC9-BE2B-610C7C37C733}">
  <ds:schemaRefs>
    <ds:schemaRef ds:uri="dc781de3-bafc-4db7-a392-5d8a9e9bc0f5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72339acb-e8cc-4142-9dab-9dca3e7dada8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1290</TotalTime>
  <Words>363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Quicksand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Truscott</dc:creator>
  <cp:lastModifiedBy>(s) Corey Richardson</cp:lastModifiedBy>
  <cp:revision>8</cp:revision>
  <dcterms:created xsi:type="dcterms:W3CDTF">2021-02-16T17:14:33Z</dcterms:created>
  <dcterms:modified xsi:type="dcterms:W3CDTF">2026-03-15T17:55:25Z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0x010100183530F9ADBD1D48AC3974C37B1F16E8</vt:lpwstr>
  </property>
</Properties>
</file>